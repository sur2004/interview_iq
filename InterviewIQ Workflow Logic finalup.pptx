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79300"/>
  <p:notesSz cx="6858000" cy="9144000"/>
  <p:defaultTextStyle>
    <a:defPPr defTabSz="914400" hangingPunct="0" indent="0" latinLnBrk="1" lvl="0" marL="0" marR="0" rtl="0" algn="l" fontAlgn="auto">
      <a:lnSpc>
        <a:spcPct val="100000"/>
      </a:lnSpc>
      <a:spcBef>
        <a:spcPts val="0"/>
      </a:spcBef>
      <a:spcAft>
        <a:spcPts val="0"/>
      </a:spcAft>
      <a:buClrTx/>
      <a:buSzTx/>
      <a:buFontTx/>
      <a:buNone/>
      <a:tabLst/>
      <a:defRPr b="0" i="0" kumimoji="0" normalizeH="0" spc="0" sz="1800" u="none" cap="none" strike="noStrike">
        <a:ln>
          <a:noFill/>
        </a:ln>
        <a:solidFill>
          <a:srgbClr val="000000"/>
        </a:solidFill>
        <a:effectLst/>
      </a:defRPr>
    </a:defPPr>
    <a:lvl1pPr defTabSz="914400" hangingPunct="0" indent="0" latinLnBrk="0" lvl="0"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1pPr>
    <a:lvl2pPr defTabSz="914400" hangingPunct="0" indent="457200" latinLnBrk="0" lvl="1"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2pPr>
    <a:lvl3pPr defTabSz="914400" hangingPunct="0" indent="914400" latinLnBrk="0" lvl="2"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3pPr>
    <a:lvl4pPr defTabSz="914400" hangingPunct="0" indent="1371600" latinLnBrk="0" lvl="3"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4pPr>
    <a:lvl5pPr defTabSz="914400" hangingPunct="0" indent="1828800" latinLnBrk="0" lvl="4"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5pPr>
    <a:lvl6pPr defTabSz="914400" hangingPunct="0" indent="2286000" latinLnBrk="0" lvl="5"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6pPr>
    <a:lvl7pPr defTabSz="914400" hangingPunct="0" indent="2743200" latinLnBrk="0" lvl="6"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7pPr>
    <a:lvl8pPr defTabSz="914400" hangingPunct="0" indent="3200400" latinLnBrk="0" lvl="7"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8pPr>
    <a:lvl9pPr defTabSz="914400" hangingPunct="0" indent="3657600" latinLnBrk="0" lvl="8" marL="0" marR="0" rtl="0" algn="l" fontAlgn="auto">
      <a:lnSpc>
        <a:spcPct val="121000"/>
      </a:lnSpc>
      <a:spcBef>
        <a:spcPts val="0"/>
      </a:spcBef>
      <a:spcAft>
        <a:spcPts val="0"/>
      </a:spcAft>
      <a:buClrTx/>
      <a:buSzTx/>
      <a:buFontTx/>
      <a:buNone/>
      <a:tabLst/>
      <a:defRPr b="0" i="0" kumimoji="0" normalizeH="0" spc="0" sz="1600" u="none" cap="none" strike="noStrike">
        <a:ln>
          <a:noFill/>
        </a:ln>
        <a:solidFill>
          <a:srgbClr val="1C1E26"/>
        </a:solidFill>
        <a:effectLst/>
        <a:latin typeface="Roboto"/>
        <a:ea typeface="Roboto"/>
        <a:cs typeface="Roboto"/>
        <a:sym typeface="Roboto"/>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4" name="Shape 34"/>
          <p:cNvSpPr/>
          <p:nvPr>
            <p:ph type="sldImg"/>
          </p:nvPr>
        </p:nvSpPr>
        <p:spPr>
          <a:xfrm>
            <a:off x="1143000" y="685800"/>
            <a:ext cx="4572000" cy="3429000"/>
          </a:xfrm>
          <a:prstGeom prst="rect">
            <a:avLst/>
          </a:prstGeom>
        </p:spPr>
        <p:txBody>
          <a:bodyPr/>
          <a:lstStyle/>
          <a:p>
            <a:pPr/>
          </a:p>
        </p:txBody>
      </p:sp>
      <p:sp>
        <p:nvSpPr>
          <p:cNvPr id="35" name="Shape 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The STAR Story Builder turns project experience into a structured interview story. Walk through the Situation and Task fields for one project or experience, with guided prompts for each part. The learner can then review and improve the story.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186"/>
          <p:cNvSpPr/>
          <p:nvPr>
            <p:ph type="sldImg"/>
          </p:nvPr>
        </p:nvSpPr>
        <p:spPr>
          <a:prstGeom prst="rect">
            <a:avLst/>
          </a:prstGeom>
        </p:spPr>
        <p:txBody>
          <a:bodyPr/>
          <a:lstStyle/>
          <a:p>
            <a:pPr/>
          </a:p>
        </p:txBody>
      </p:sp>
      <p:sp>
        <p:nvSpPr>
          <p:cNvPr id="187" name="Shape 187"/>
          <p:cNvSpPr/>
          <p:nvPr>
            <p:ph type="body" sz="quarter" idx="1"/>
          </p:nvPr>
        </p:nvSpPr>
        <p:spPr>
          <a:prstGeom prst="rect">
            <a:avLst/>
          </a:prstGeom>
        </p:spPr>
        <p:txBody>
          <a:bodyPr/>
          <a:lstStyle/>
          <a:p>
            <a:pPr/>
            <a:r>
              <a:t>Walk left to right through the nine workflow steps. Then cover the tech stack with the named Gemini, Groq, and OpenAI options, how AI is used including speech-to-text and rule-based offline fallback, the key features, and the project goal.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219"/>
          <p:cNvSpPr/>
          <p:nvPr>
            <p:ph type="sldImg"/>
          </p:nvPr>
        </p:nvSpPr>
        <p:spPr>
          <a:prstGeom prst="rect">
            <a:avLst/>
          </a:prstGeom>
        </p:spPr>
        <p:txBody>
          <a:bodyPr/>
          <a:lstStyle/>
          <a:p>
            <a:pPr/>
          </a:p>
        </p:txBody>
      </p:sp>
      <p:sp>
        <p:nvSpPr>
          <p:cNvPr id="220" name="Shape 220"/>
          <p:cNvSpPr/>
          <p:nvPr>
            <p:ph type="body" sz="quarter" idx="1"/>
          </p:nvPr>
        </p:nvSpPr>
        <p:spPr>
          <a:prstGeom prst="rect">
            <a:avLst/>
          </a:prstGeom>
        </p:spPr>
        <p:txBody>
          <a:bodyPr/>
          <a:lstStyle/>
          <a:p>
            <a:pPr/>
            <a:r>
              <a:t>Four checks, scored 1 to 5 for practice guidance only. Each check pairs a question with one concrete improvement.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The sidebar is the main navigation. It shows InterviewIQ Studio branding, then the practice modes: mock interview, technical challenge, question bank, system design, STAR builder, and spot the flaw. Progress and performance and export results sit with the learning tools. Role selection lets the learner choose the target role first.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master 1">
    <p:bg>
      <p:bgPr>
        <a:solidFill>
          <a:srgbClr val="F6F5F0"/>
        </a:solidFill>
      </p:bgPr>
    </p:bg>
    <p:spTree>
      <p:nvGrpSpPr>
        <p:cNvPr id="1" name=""/>
        <p:cNvGrpSpPr/>
        <p:nvPr/>
      </p:nvGrpSpPr>
      <p:grpSpPr>
        <a:xfrm>
          <a:off x="0" y="0"/>
          <a:ext cx="0" cy="0"/>
          <a:chOff x="0" y="0"/>
          <a:chExt cx="0" cy="0"/>
        </a:xfrm>
      </p:grpSpPr>
      <p:pic>
        <p:nvPicPr>
          <p:cNvPr id="18" name="Image 0" descr="Image 0">
            <a:hlinkClick r:id="rId2" invalidUrl="" action="" tgtFrame="" tooltip="" history="1" highlightClick="0" endSnd="0"/>
          </p:cNvPr>
          <p:cNvPicPr>
            <a:picLocks noChangeAspect="1"/>
          </p:cNvPicPr>
          <p:nvPr/>
        </p:nvPicPr>
        <p:blipFill>
          <a:blip r:embed="rId3">
            <a:extLst/>
          </a:blip>
          <a:stretch>
            <a:fillRect/>
          </a:stretch>
        </p:blipFill>
        <p:spPr>
          <a:xfrm>
            <a:off x="11076875" y="6558991"/>
            <a:ext cx="1071844" cy="256033"/>
          </a:xfrm>
          <a:prstGeom prst="rect">
            <a:avLst/>
          </a:prstGeom>
          <a:ln w="12700">
            <a:miter lim="400000"/>
          </a:ln>
        </p:spPr>
      </p:pic>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master 2">
    <p:bg>
      <p:bgPr>
        <a:solidFill>
          <a:srgbClr val="1C1E26"/>
        </a:solidFill>
      </p:bgPr>
    </p:bg>
    <p:spTree>
      <p:nvGrpSpPr>
        <p:cNvPr id="1" name=""/>
        <p:cNvGrpSpPr/>
        <p:nvPr/>
      </p:nvGrpSpPr>
      <p:grpSpPr>
        <a:xfrm>
          <a:off x="0" y="0"/>
          <a:ext cx="0" cy="0"/>
          <a:chOff x="0" y="0"/>
          <a:chExt cx="0" cy="0"/>
        </a:xfrm>
      </p:grpSpPr>
      <p:sp>
        <p:nvSpPr>
          <p:cNvPr id="26" name="Shape 0"/>
          <p:cNvSpPr/>
          <p:nvPr/>
        </p:nvSpPr>
        <p:spPr>
          <a:xfrm>
            <a:off x="-1" y="-1"/>
            <a:ext cx="12191697" cy="685810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27" name="Image 0" descr="Image 0">
            <a:hlinkClick r:id="rId2" invalidUrl="" action="" tgtFrame="" tooltip="" history="1" highlightClick="0" endSnd="0"/>
          </p:cNvPr>
          <p:cNvPicPr>
            <a:picLocks noChangeAspect="1"/>
          </p:cNvPicPr>
          <p:nvPr/>
        </p:nvPicPr>
        <p:blipFill>
          <a:blip r:embed="rId3">
            <a:extLst/>
          </a:blip>
          <a:stretch>
            <a:fillRect/>
          </a:stretch>
        </p:blipFill>
        <p:spPr>
          <a:xfrm>
            <a:off x="11076875" y="6558991"/>
            <a:ext cx="1071844" cy="256033"/>
          </a:xfrm>
          <a:prstGeom prst="rect">
            <a:avLst/>
          </a:prstGeom>
          <a:ln w="12700">
            <a:miter lim="400000"/>
          </a:ln>
        </p:spPr>
      </p:pic>
      <p:sp>
        <p:nvSpPr>
          <p:cNvPr id="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lnSpc>
                <a:spcPct val="100000"/>
              </a:lnSpc>
              <a:defRPr sz="1200">
                <a:solidFill>
                  <a:srgbClr val="000000"/>
                </a:solidFill>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 name="Shape 0"/>
          <p:cNvSpPr/>
          <p:nvPr/>
        </p:nvSpPr>
        <p:spPr>
          <a:xfrm>
            <a:off x="-1" y="0"/>
            <a:ext cx="6908629" cy="68580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38" name="Image 0" descr="Image 0"/>
          <p:cNvPicPr>
            <a:picLocks noChangeAspect="1"/>
          </p:cNvPicPr>
          <p:nvPr/>
        </p:nvPicPr>
        <p:blipFill>
          <a:blip r:embed="rId2">
            <a:extLst/>
          </a:blip>
          <a:stretch>
            <a:fillRect/>
          </a:stretch>
        </p:blipFill>
        <p:spPr>
          <a:xfrm>
            <a:off x="152297" y="152300"/>
            <a:ext cx="1219070" cy="1206800"/>
          </a:xfrm>
          <a:prstGeom prst="rect">
            <a:avLst/>
          </a:prstGeom>
          <a:ln w="12700">
            <a:miter lim="400000"/>
          </a:ln>
        </p:spPr>
      </p:pic>
      <p:sp>
        <p:nvSpPr>
          <p:cNvPr id="39" name="Text 1"/>
          <p:cNvSpPr txBox="1"/>
          <p:nvPr/>
        </p:nvSpPr>
        <p:spPr>
          <a:xfrm>
            <a:off x="152296" y="1536600"/>
            <a:ext cx="2826121"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pc="72" sz="1200">
                <a:solidFill>
                  <a:srgbClr val="FFFFFF"/>
                </a:solidFill>
                <a:latin typeface="JetBrains Mono"/>
                <a:ea typeface="JetBrains Mono"/>
                <a:cs typeface="JetBrains Mono"/>
                <a:sym typeface="JetBrains Mono"/>
              </a:defRPr>
            </a:lvl1pPr>
          </a:lstStyle>
          <a:p>
            <a:pPr/>
            <a:r>
              <a:t>TECHNICAL INTERVIEW PRACTICE</a:t>
            </a:r>
          </a:p>
        </p:txBody>
      </p:sp>
      <p:sp>
        <p:nvSpPr>
          <p:cNvPr id="40" name="Text 2"/>
          <p:cNvSpPr txBox="1"/>
          <p:nvPr/>
        </p:nvSpPr>
        <p:spPr>
          <a:xfrm>
            <a:off x="152296" y="5186340"/>
            <a:ext cx="4941889" cy="1092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b="1" sz="7200">
                <a:solidFill>
                  <a:srgbClr val="B6FCB8"/>
                </a:solidFill>
                <a:latin typeface="Inter Tight Bold"/>
                <a:ea typeface="Inter Tight Bold"/>
                <a:cs typeface="Inter Tight Bold"/>
                <a:sym typeface="Inter Tight Bold"/>
              </a:defRPr>
            </a:lvl1pPr>
          </a:lstStyle>
          <a:p>
            <a:pPr/>
            <a:r>
              <a:t>InterviewIQ</a:t>
            </a:r>
          </a:p>
        </p:txBody>
      </p:sp>
      <p:sp>
        <p:nvSpPr>
          <p:cNvPr id="41" name="Text 3"/>
          <p:cNvSpPr txBox="1"/>
          <p:nvPr/>
        </p:nvSpPr>
        <p:spPr>
          <a:xfrm>
            <a:off x="152297" y="6095901"/>
            <a:ext cx="6553035" cy="5891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a:solidFill>
                  <a:srgbClr val="FFFFFF"/>
                </a:solidFill>
              </a:defRPr>
            </a:lvl1pPr>
          </a:lstStyle>
          <a:p>
            <a:pPr/>
            <a:r>
              <a:t>A backend and GenAI app: questions, answer evaluation, feedback, and saved history.</a:t>
            </a:r>
          </a:p>
        </p:txBody>
      </p:sp>
      <p:sp>
        <p:nvSpPr>
          <p:cNvPr id="42" name="Text 4"/>
          <p:cNvSpPr txBox="1"/>
          <p:nvPr/>
        </p:nvSpPr>
        <p:spPr>
          <a:xfrm>
            <a:off x="7365717" y="2311300"/>
            <a:ext cx="2780110"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K. V. N. Surya Teja · Backend  </a:t>
            </a:r>
          </a:p>
        </p:txBody>
      </p:sp>
      <p:sp>
        <p:nvSpPr>
          <p:cNvPr id="43" name="Text 5"/>
          <p:cNvSpPr txBox="1"/>
          <p:nvPr/>
        </p:nvSpPr>
        <p:spPr>
          <a:xfrm>
            <a:off x="7365717" y="2959000"/>
            <a:ext cx="2369940"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G. Tejesh · API Integration</a:t>
            </a:r>
          </a:p>
        </p:txBody>
      </p:sp>
      <p:sp>
        <p:nvSpPr>
          <p:cNvPr id="44" name="Text 6"/>
          <p:cNvSpPr txBox="1"/>
          <p:nvPr/>
        </p:nvSpPr>
        <p:spPr>
          <a:xfrm>
            <a:off x="7365717" y="3606701"/>
            <a:ext cx="2926954"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A. Bhagyaraju · Frontend and UI</a:t>
            </a:r>
          </a:p>
        </p:txBody>
      </p:sp>
      <p:sp>
        <p:nvSpPr>
          <p:cNvPr id="45" name="Text 7"/>
          <p:cNvSpPr txBox="1"/>
          <p:nvPr/>
        </p:nvSpPr>
        <p:spPr>
          <a:xfrm>
            <a:off x="7365717" y="4254401"/>
            <a:ext cx="2260402"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G. Jhon · Documentation</a:t>
            </a:r>
          </a:p>
        </p:txBody>
      </p:sp>
      <p:sp>
        <p:nvSpPr>
          <p:cNvPr id="46" name="Shape 8"/>
          <p:cNvSpPr/>
          <p:nvPr/>
        </p:nvSpPr>
        <p:spPr>
          <a:xfrm>
            <a:off x="7365816" y="2768600"/>
            <a:ext cx="4317893" cy="127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47" name="Shape 9"/>
          <p:cNvSpPr/>
          <p:nvPr/>
        </p:nvSpPr>
        <p:spPr>
          <a:xfrm>
            <a:off x="7365816" y="3429000"/>
            <a:ext cx="4317893" cy="127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48" name="Shape 10"/>
          <p:cNvSpPr/>
          <p:nvPr/>
        </p:nvSpPr>
        <p:spPr>
          <a:xfrm>
            <a:off x="7365816" y="4076700"/>
            <a:ext cx="4317893" cy="127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49" name="Shape 11"/>
          <p:cNvSpPr/>
          <p:nvPr/>
        </p:nvSpPr>
        <p:spPr>
          <a:xfrm>
            <a:off x="152396" y="2006600"/>
            <a:ext cx="1650761" cy="57150"/>
          </a:xfrm>
          <a:prstGeom prst="roundRect">
            <a:avLst>
              <a:gd name="adj" fmla="val 49999"/>
            </a:avLst>
          </a:prstGeom>
          <a:solidFill>
            <a:srgbClr val="B6FCB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50" name="Image 1" descr="Image 1"/>
          <p:cNvPicPr>
            <a:picLocks noChangeAspect="1"/>
          </p:cNvPicPr>
          <p:nvPr/>
        </p:nvPicPr>
        <p:blipFill>
          <a:blip r:embed="rId3">
            <a:extLst/>
          </a:blip>
          <a:stretch>
            <a:fillRect/>
          </a:stretch>
        </p:blipFill>
        <p:spPr>
          <a:xfrm>
            <a:off x="11077099" y="6559550"/>
            <a:ext cx="1071834" cy="255985"/>
          </a:xfrm>
          <a:prstGeom prst="rect">
            <a:avLst/>
          </a:prstGeom>
          <a:ln w="12700">
            <a:miter lim="400000"/>
          </a:ln>
        </p:spPr>
      </p:pic>
      <p:sp>
        <p:nvSpPr>
          <p:cNvPr id="51" name="Rounded Rectangle"/>
          <p:cNvSpPr/>
          <p:nvPr/>
        </p:nvSpPr>
        <p:spPr>
          <a:xfrm>
            <a:off x="6894626" y="6514240"/>
            <a:ext cx="5260273"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Shape 0"/>
          <p:cNvSpPr/>
          <p:nvPr/>
        </p:nvSpPr>
        <p:spPr>
          <a:xfrm>
            <a:off x="0" y="-1"/>
            <a:ext cx="4470288" cy="685810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54" name="Text 1"/>
          <p:cNvSpPr txBox="1"/>
          <p:nvPr/>
        </p:nvSpPr>
        <p:spPr>
          <a:xfrm>
            <a:off x="507987" y="4488596"/>
            <a:ext cx="3498763" cy="18653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68680">
              <a:lnSpc>
                <a:spcPct val="90000"/>
              </a:lnSpc>
              <a:defRPr b="1" sz="3230">
                <a:solidFill>
                  <a:srgbClr val="FFFFFF"/>
                </a:solidFill>
                <a:latin typeface="Inter Tight Bold"/>
                <a:ea typeface="Inter Tight Bold"/>
                <a:cs typeface="Inter Tight Bold"/>
                <a:sym typeface="Inter Tight Bold"/>
              </a:defRPr>
            </a:lvl1pPr>
          </a:lstStyle>
          <a:p>
            <a:pPr/>
            <a:r>
              <a:t>The problem: practice does not explain what to improve</a:t>
            </a:r>
          </a:p>
        </p:txBody>
      </p:sp>
      <p:sp>
        <p:nvSpPr>
          <p:cNvPr id="55" name="Shape 2"/>
          <p:cNvSpPr/>
          <p:nvPr/>
        </p:nvSpPr>
        <p:spPr>
          <a:xfrm>
            <a:off x="4978274" y="1101029"/>
            <a:ext cx="311143" cy="311151"/>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56" name="Text 3"/>
          <p:cNvSpPr txBox="1"/>
          <p:nvPr/>
        </p:nvSpPr>
        <p:spPr>
          <a:xfrm>
            <a:off x="5057647" y="1147067"/>
            <a:ext cx="161027"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2100">
                <a:latin typeface="Roboto Medium"/>
                <a:ea typeface="Roboto Medium"/>
                <a:cs typeface="Roboto Medium"/>
                <a:sym typeface="Roboto Medium"/>
              </a:defRPr>
            </a:lvl1pPr>
          </a:lstStyle>
          <a:p>
            <a:pPr/>
            <a:r>
              <a:t>1</a:t>
            </a:r>
          </a:p>
        </p:txBody>
      </p:sp>
      <p:sp>
        <p:nvSpPr>
          <p:cNvPr id="57" name="Text 4"/>
          <p:cNvSpPr txBox="1"/>
          <p:nvPr/>
        </p:nvSpPr>
        <p:spPr>
          <a:xfrm>
            <a:off x="5467213" y="1147425"/>
            <a:ext cx="337212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Questions start the practice</a:t>
            </a:r>
          </a:p>
        </p:txBody>
      </p:sp>
      <p:sp>
        <p:nvSpPr>
          <p:cNvPr id="58" name="Text 5"/>
          <p:cNvSpPr txBox="1"/>
          <p:nvPr/>
        </p:nvSpPr>
        <p:spPr>
          <a:xfrm>
            <a:off x="5467213" y="1574204"/>
            <a:ext cx="6108548"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Sample questions are useful, but students may still struggle to organise and explain their thinking.</a:t>
            </a:r>
          </a:p>
        </p:txBody>
      </p:sp>
      <p:sp>
        <p:nvSpPr>
          <p:cNvPr id="59" name="Shape 6"/>
          <p:cNvSpPr/>
          <p:nvPr/>
        </p:nvSpPr>
        <p:spPr>
          <a:xfrm>
            <a:off x="4978274" y="2513111"/>
            <a:ext cx="311143" cy="311151"/>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60" name="Text 7"/>
          <p:cNvSpPr txBox="1"/>
          <p:nvPr/>
        </p:nvSpPr>
        <p:spPr>
          <a:xfrm>
            <a:off x="5057647" y="2559149"/>
            <a:ext cx="161027"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2100">
                <a:latin typeface="Roboto Medium"/>
                <a:ea typeface="Roboto Medium"/>
                <a:cs typeface="Roboto Medium"/>
                <a:sym typeface="Roboto Medium"/>
              </a:defRPr>
            </a:lvl1pPr>
          </a:lstStyle>
          <a:p>
            <a:pPr/>
            <a:r>
              <a:t>2</a:t>
            </a:r>
          </a:p>
        </p:txBody>
      </p:sp>
      <p:sp>
        <p:nvSpPr>
          <p:cNvPr id="61" name="Text 8"/>
          <p:cNvSpPr txBox="1"/>
          <p:nvPr/>
        </p:nvSpPr>
        <p:spPr>
          <a:xfrm>
            <a:off x="5467213" y="2559505"/>
            <a:ext cx="2624262"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Scores hide the issue</a:t>
            </a:r>
          </a:p>
        </p:txBody>
      </p:sp>
      <p:sp>
        <p:nvSpPr>
          <p:cNvPr id="62" name="Text 9"/>
          <p:cNvSpPr txBox="1"/>
          <p:nvPr/>
        </p:nvSpPr>
        <p:spPr>
          <a:xfrm>
            <a:off x="5467213" y="2986384"/>
            <a:ext cx="6108548"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A single score does not show whether the issue is relevance, structure, evidence, or clarity.</a:t>
            </a:r>
          </a:p>
        </p:txBody>
      </p:sp>
      <p:sp>
        <p:nvSpPr>
          <p:cNvPr id="63" name="Shape 10"/>
          <p:cNvSpPr/>
          <p:nvPr/>
        </p:nvSpPr>
        <p:spPr>
          <a:xfrm>
            <a:off x="4978274" y="3925292"/>
            <a:ext cx="311143" cy="311151"/>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64" name="Text 11"/>
          <p:cNvSpPr txBox="1"/>
          <p:nvPr/>
        </p:nvSpPr>
        <p:spPr>
          <a:xfrm>
            <a:off x="5057647" y="3971330"/>
            <a:ext cx="161027"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2100">
                <a:latin typeface="Roboto Medium"/>
                <a:ea typeface="Roboto Medium"/>
                <a:cs typeface="Roboto Medium"/>
                <a:sym typeface="Roboto Medium"/>
              </a:defRPr>
            </a:lvl1pPr>
          </a:lstStyle>
          <a:p>
            <a:pPr/>
            <a:r>
              <a:t>3</a:t>
            </a:r>
          </a:p>
        </p:txBody>
      </p:sp>
      <p:sp>
        <p:nvSpPr>
          <p:cNvPr id="65" name="Text 12"/>
          <p:cNvSpPr txBox="1"/>
          <p:nvPr/>
        </p:nvSpPr>
        <p:spPr>
          <a:xfrm>
            <a:off x="5467213" y="3971587"/>
            <a:ext cx="2962846"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History is hard to review</a:t>
            </a:r>
          </a:p>
        </p:txBody>
      </p:sp>
      <p:sp>
        <p:nvSpPr>
          <p:cNvPr id="66" name="Text 13"/>
          <p:cNvSpPr txBox="1"/>
          <p:nvPr/>
        </p:nvSpPr>
        <p:spPr>
          <a:xfrm>
            <a:off x="5467213" y="4415333"/>
            <a:ext cx="5530057"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400"/>
            </a:lvl1pPr>
          </a:lstStyle>
          <a:p>
            <a:pPr/>
            <a:r>
              <a:t>Without saved practice history, progress is difficult to review over time.</a:t>
            </a:r>
          </a:p>
        </p:txBody>
      </p:sp>
      <p:sp>
        <p:nvSpPr>
          <p:cNvPr id="67" name="Shape 14"/>
          <p:cNvSpPr/>
          <p:nvPr/>
        </p:nvSpPr>
        <p:spPr>
          <a:xfrm>
            <a:off x="4978274" y="4876403"/>
            <a:ext cx="6654635" cy="1083867"/>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68" name="Shape 15"/>
          <p:cNvSpPr/>
          <p:nvPr/>
        </p:nvSpPr>
        <p:spPr>
          <a:xfrm>
            <a:off x="5257667" y="5130403"/>
            <a:ext cx="311143" cy="311151"/>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69" name="Text 16"/>
          <p:cNvSpPr txBox="1"/>
          <p:nvPr/>
        </p:nvSpPr>
        <p:spPr>
          <a:xfrm>
            <a:off x="5337040" y="5176441"/>
            <a:ext cx="161027"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2100">
                <a:latin typeface="Roboto Medium"/>
                <a:ea typeface="Roboto Medium"/>
                <a:cs typeface="Roboto Medium"/>
                <a:sym typeface="Roboto Medium"/>
              </a:defRPr>
            </a:lvl1pPr>
          </a:lstStyle>
          <a:p>
            <a:pPr/>
            <a:r>
              <a:t>4</a:t>
            </a:r>
          </a:p>
        </p:txBody>
      </p:sp>
      <p:sp>
        <p:nvSpPr>
          <p:cNvPr id="70" name="Text 17"/>
          <p:cNvSpPr txBox="1"/>
          <p:nvPr/>
        </p:nvSpPr>
        <p:spPr>
          <a:xfrm>
            <a:off x="5746605" y="5173762"/>
            <a:ext cx="5549763"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defRPr b="1" sz="1400">
                <a:solidFill>
                  <a:srgbClr val="FFFFFF"/>
                </a:solidFill>
                <a:latin typeface="Roboto Bold"/>
                <a:ea typeface="Roboto Bold"/>
                <a:cs typeface="Roboto Bold"/>
                <a:sym typeface="Roboto Bold"/>
              </a:defRPr>
            </a:pPr>
            <a:r>
              <a:t>Project response:</a:t>
            </a:r>
            <a:r>
              <a:rPr b="0">
                <a:latin typeface="Roboto"/>
                <a:ea typeface="Roboto"/>
                <a:cs typeface="Roboto"/>
                <a:sym typeface="Roboto"/>
              </a:rPr>
              <a:t> a backend that scores each answer on four criteria and saves feedback for the next attempt.</a:t>
            </a:r>
          </a:p>
        </p:txBody>
      </p:sp>
      <p:sp>
        <p:nvSpPr>
          <p:cNvPr id="71" name="Shape 18"/>
          <p:cNvSpPr/>
          <p:nvPr/>
        </p:nvSpPr>
        <p:spPr>
          <a:xfrm>
            <a:off x="4978274" y="4870053"/>
            <a:ext cx="6654635"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72" name="Shape 19"/>
          <p:cNvSpPr/>
          <p:nvPr/>
        </p:nvSpPr>
        <p:spPr>
          <a:xfrm>
            <a:off x="4978274" y="2303561"/>
            <a:ext cx="6654635"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73" name="Shape 20"/>
          <p:cNvSpPr/>
          <p:nvPr/>
        </p:nvSpPr>
        <p:spPr>
          <a:xfrm>
            <a:off x="4978274" y="3715742"/>
            <a:ext cx="6654635"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74" name="Image 0" descr="Image 0"/>
          <p:cNvPicPr>
            <a:picLocks noChangeAspect="1"/>
          </p:cNvPicPr>
          <p:nvPr/>
        </p:nvPicPr>
        <p:blipFill>
          <a:blip r:embed="rId2">
            <a:extLst/>
          </a:blip>
          <a:stretch>
            <a:fillRect/>
          </a:stretch>
        </p:blipFill>
        <p:spPr>
          <a:xfrm>
            <a:off x="11077099" y="6559550"/>
            <a:ext cx="1071834" cy="255985"/>
          </a:xfrm>
          <a:prstGeom prst="rect">
            <a:avLst/>
          </a:prstGeom>
          <a:ln w="12700">
            <a:miter lim="400000"/>
          </a:ln>
        </p:spPr>
      </p:pic>
      <p:sp>
        <p:nvSpPr>
          <p:cNvPr id="75" name="Rounded Rectangle"/>
          <p:cNvSpPr/>
          <p:nvPr/>
        </p:nvSpPr>
        <p:spPr>
          <a:xfrm>
            <a:off x="4468815" y="6514240"/>
            <a:ext cx="7673554"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 0"/>
          <p:cNvSpPr txBox="1"/>
          <p:nvPr/>
        </p:nvSpPr>
        <p:spPr>
          <a:xfrm>
            <a:off x="609584" y="661037"/>
            <a:ext cx="8180823" cy="469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3100">
                <a:solidFill>
                  <a:srgbClr val="2743D8"/>
                </a:solidFill>
                <a:latin typeface="Inter Tight Bold"/>
                <a:ea typeface="Inter Tight Bold"/>
                <a:cs typeface="Inter Tight Bold"/>
                <a:sym typeface="Inter Tight Bold"/>
              </a:defRPr>
            </a:lvl1pPr>
          </a:lstStyle>
          <a:p>
            <a:pPr/>
            <a:r>
              <a:t>InterviewIQ – Logic &amp; Backend Architecture</a:t>
            </a:r>
          </a:p>
        </p:txBody>
      </p:sp>
      <p:sp>
        <p:nvSpPr>
          <p:cNvPr id="78" name="Text 1"/>
          <p:cNvSpPr txBox="1"/>
          <p:nvPr/>
        </p:nvSpPr>
        <p:spPr>
          <a:xfrm>
            <a:off x="609584" y="1213326"/>
            <a:ext cx="5812719"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000"/>
              </a:lnSpc>
              <a:defRPr sz="1500"/>
            </a:lvl1pPr>
          </a:lstStyle>
          <a:p>
            <a:pPr/>
            <a:r>
              <a:t>The candidate journey is one connected handoff from login to export.</a:t>
            </a:r>
          </a:p>
        </p:txBody>
      </p:sp>
      <p:sp>
        <p:nvSpPr>
          <p:cNvPr id="79" name="Text 2"/>
          <p:cNvSpPr txBox="1"/>
          <p:nvPr/>
        </p:nvSpPr>
        <p:spPr>
          <a:xfrm>
            <a:off x="609584" y="1575315"/>
            <a:ext cx="2087601"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200">
                <a:solidFill>
                  <a:srgbClr val="2743D8"/>
                </a:solidFill>
                <a:latin typeface="Inter Tight Bold"/>
                <a:ea typeface="Inter Tight Bold"/>
                <a:cs typeface="Inter Tight Bold"/>
                <a:sym typeface="Inter Tight Bold"/>
              </a:defRPr>
            </a:lvl1pPr>
          </a:lstStyle>
          <a:p>
            <a:pPr/>
            <a:r>
              <a:t>Workflow Logic</a:t>
            </a:r>
          </a:p>
        </p:txBody>
      </p:sp>
      <p:sp>
        <p:nvSpPr>
          <p:cNvPr id="80" name="Shape 3"/>
          <p:cNvSpPr/>
          <p:nvPr/>
        </p:nvSpPr>
        <p:spPr>
          <a:xfrm>
            <a:off x="609584" y="2055911"/>
            <a:ext cx="288027" cy="288033"/>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81" name="Text 4"/>
          <p:cNvSpPr txBox="1"/>
          <p:nvPr/>
        </p:nvSpPr>
        <p:spPr>
          <a:xfrm>
            <a:off x="706420" y="2131948"/>
            <a:ext cx="127001"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300">
                <a:latin typeface="Roboto Medium"/>
                <a:ea typeface="Roboto Medium"/>
                <a:cs typeface="Roboto Medium"/>
                <a:sym typeface="Roboto Medium"/>
              </a:defRPr>
            </a:lvl1pPr>
          </a:lstStyle>
          <a:p>
            <a:pPr/>
            <a:r>
              <a:t>1</a:t>
            </a:r>
          </a:p>
        </p:txBody>
      </p:sp>
      <p:sp>
        <p:nvSpPr>
          <p:cNvPr id="82" name="Text 5"/>
          <p:cNvSpPr txBox="1"/>
          <p:nvPr/>
        </p:nvSpPr>
        <p:spPr>
          <a:xfrm>
            <a:off x="1024606" y="2043766"/>
            <a:ext cx="2535075" cy="50740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90000"/>
              </a:lnSpc>
              <a:defRPr b="1">
                <a:solidFill>
                  <a:srgbClr val="2743D8"/>
                </a:solidFill>
                <a:latin typeface="Inter Tight Bold"/>
                <a:ea typeface="Inter Tight Bold"/>
                <a:cs typeface="Inter Tight Bold"/>
                <a:sym typeface="Inter Tight Bold"/>
              </a:defRPr>
            </a:lvl1pPr>
          </a:lstStyle>
          <a:p>
            <a:pPr/>
            <a:r>
              <a:t>Login → Choose → Generate</a:t>
            </a:r>
          </a:p>
        </p:txBody>
      </p:sp>
      <p:sp>
        <p:nvSpPr>
          <p:cNvPr id="83" name="Text 6"/>
          <p:cNvSpPr txBox="1"/>
          <p:nvPr/>
        </p:nvSpPr>
        <p:spPr>
          <a:xfrm>
            <a:off x="1024606" y="2622848"/>
            <a:ext cx="2535075" cy="6881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000"/>
              </a:lnSpc>
              <a:defRPr sz="1300"/>
            </a:lvl1pPr>
          </a:lstStyle>
          <a:p>
            <a:pPr/>
            <a:r>
              <a:t>Candidate ID + PIN → select interview role → role-specific questions.</a:t>
            </a:r>
          </a:p>
        </p:txBody>
      </p:sp>
      <p:sp>
        <p:nvSpPr>
          <p:cNvPr id="84" name="Shape 7"/>
          <p:cNvSpPr/>
          <p:nvPr/>
        </p:nvSpPr>
        <p:spPr>
          <a:xfrm>
            <a:off x="609584" y="3550642"/>
            <a:ext cx="288027" cy="288033"/>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85" name="Text 8"/>
          <p:cNvSpPr txBox="1"/>
          <p:nvPr/>
        </p:nvSpPr>
        <p:spPr>
          <a:xfrm>
            <a:off x="706420" y="3626580"/>
            <a:ext cx="127001"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300">
                <a:latin typeface="Roboto Medium"/>
                <a:ea typeface="Roboto Medium"/>
                <a:cs typeface="Roboto Medium"/>
                <a:sym typeface="Roboto Medium"/>
              </a:defRPr>
            </a:lvl1pPr>
          </a:lstStyle>
          <a:p>
            <a:pPr/>
            <a:r>
              <a:t>2</a:t>
            </a:r>
          </a:p>
        </p:txBody>
      </p:sp>
      <p:sp>
        <p:nvSpPr>
          <p:cNvPr id="86" name="Text 9"/>
          <p:cNvSpPr txBox="1"/>
          <p:nvPr/>
        </p:nvSpPr>
        <p:spPr>
          <a:xfrm>
            <a:off x="1024606" y="3538399"/>
            <a:ext cx="2535075" cy="50740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90000"/>
              </a:lnSpc>
              <a:defRPr b="1">
                <a:solidFill>
                  <a:srgbClr val="2743D8"/>
                </a:solidFill>
                <a:latin typeface="Inter Tight Bold"/>
                <a:ea typeface="Inter Tight Bold"/>
                <a:cs typeface="Inter Tight Bold"/>
                <a:sym typeface="Inter Tight Bold"/>
              </a:defRPr>
            </a:lvl1pPr>
          </a:lstStyle>
          <a:p>
            <a:pPr/>
            <a:r>
              <a:t>Answer → Validate → Evaluate</a:t>
            </a:r>
          </a:p>
        </p:txBody>
      </p:sp>
      <p:sp>
        <p:nvSpPr>
          <p:cNvPr id="87" name="Text 10"/>
          <p:cNvSpPr txBox="1"/>
          <p:nvPr/>
        </p:nvSpPr>
        <p:spPr>
          <a:xfrm>
            <a:off x="1024606" y="4117380"/>
            <a:ext cx="2535075" cy="6881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000"/>
              </a:lnSpc>
              <a:defRPr sz="1300"/>
            </a:lvl1pPr>
          </a:lstStyle>
          <a:p>
            <a:pPr/>
            <a:r>
              <a:t>Submit typed or spoken answers → validate answers → AI evaluation.</a:t>
            </a:r>
          </a:p>
        </p:txBody>
      </p:sp>
      <p:sp>
        <p:nvSpPr>
          <p:cNvPr id="88" name="Shape 11"/>
          <p:cNvSpPr/>
          <p:nvPr/>
        </p:nvSpPr>
        <p:spPr>
          <a:xfrm>
            <a:off x="609584" y="4815383"/>
            <a:ext cx="288027" cy="288033"/>
          </a:xfrm>
          <a:prstGeom prst="ellipse">
            <a:avLst/>
          </a:prstGeom>
          <a:solidFill>
            <a:srgbClr val="9C9EA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89" name="Text 12"/>
          <p:cNvSpPr txBox="1"/>
          <p:nvPr/>
        </p:nvSpPr>
        <p:spPr>
          <a:xfrm>
            <a:off x="706420" y="4891321"/>
            <a:ext cx="127001"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300">
                <a:latin typeface="Roboto Medium"/>
                <a:ea typeface="Roboto Medium"/>
                <a:cs typeface="Roboto Medium"/>
                <a:sym typeface="Roboto Medium"/>
              </a:defRPr>
            </a:lvl1pPr>
          </a:lstStyle>
          <a:p>
            <a:pPr/>
            <a:r>
              <a:t>3</a:t>
            </a:r>
          </a:p>
        </p:txBody>
      </p:sp>
      <p:sp>
        <p:nvSpPr>
          <p:cNvPr id="90" name="Text 13"/>
          <p:cNvSpPr txBox="1"/>
          <p:nvPr/>
        </p:nvSpPr>
        <p:spPr>
          <a:xfrm>
            <a:off x="1024606" y="4803338"/>
            <a:ext cx="2535075" cy="50740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90000"/>
              </a:lnSpc>
              <a:defRPr b="1">
                <a:solidFill>
                  <a:srgbClr val="2743D8"/>
                </a:solidFill>
                <a:latin typeface="Inter Tight Bold"/>
                <a:ea typeface="Inter Tight Bold"/>
                <a:cs typeface="Inter Tight Bold"/>
                <a:sym typeface="Inter Tight Bold"/>
              </a:defRPr>
            </a:lvl1pPr>
          </a:lstStyle>
          <a:p>
            <a:pPr/>
            <a:r>
              <a:t>Feedback → History → Export</a:t>
            </a:r>
          </a:p>
        </p:txBody>
      </p:sp>
      <p:sp>
        <p:nvSpPr>
          <p:cNvPr id="91" name="Text 14"/>
          <p:cNvSpPr txBox="1"/>
          <p:nvPr/>
        </p:nvSpPr>
        <p:spPr>
          <a:xfrm>
            <a:off x="1024606" y="5382419"/>
            <a:ext cx="2535075" cy="45878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000"/>
              </a:lnSpc>
              <a:defRPr sz="1300"/>
            </a:lvl1pPr>
          </a:lstStyle>
          <a:p>
            <a:pPr/>
            <a:r>
              <a:t>Scores &amp; feedback → save history → export report.</a:t>
            </a:r>
          </a:p>
        </p:txBody>
      </p:sp>
      <p:pic>
        <p:nvPicPr>
          <p:cNvPr id="92" name="Image 0" descr="Image 0"/>
          <p:cNvPicPr>
            <a:picLocks noChangeAspect="1"/>
          </p:cNvPicPr>
          <p:nvPr/>
        </p:nvPicPr>
        <p:blipFill>
          <a:blip r:embed="rId2">
            <a:extLst/>
          </a:blip>
          <a:stretch>
            <a:fillRect/>
          </a:stretch>
        </p:blipFill>
        <p:spPr>
          <a:xfrm>
            <a:off x="3786985" y="3546673"/>
            <a:ext cx="411550" cy="411560"/>
          </a:xfrm>
          <a:prstGeom prst="rect">
            <a:avLst/>
          </a:prstGeom>
          <a:ln w="12700">
            <a:miter lim="400000"/>
          </a:ln>
        </p:spPr>
      </p:pic>
      <p:sp>
        <p:nvSpPr>
          <p:cNvPr id="93" name="Shape 15"/>
          <p:cNvSpPr/>
          <p:nvPr/>
        </p:nvSpPr>
        <p:spPr>
          <a:xfrm>
            <a:off x="4267093" y="1540866"/>
            <a:ext cx="3474454" cy="442337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94" name="Text 16"/>
          <p:cNvSpPr txBox="1"/>
          <p:nvPr/>
        </p:nvSpPr>
        <p:spPr>
          <a:xfrm>
            <a:off x="4521086" y="1829316"/>
            <a:ext cx="2890603"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200">
                <a:solidFill>
                  <a:srgbClr val="FFFFFF"/>
                </a:solidFill>
                <a:latin typeface="Inter Tight Bold"/>
                <a:ea typeface="Inter Tight Bold"/>
                <a:cs typeface="Inter Tight Bold"/>
                <a:sym typeface="Inter Tight Bold"/>
              </a:defRPr>
            </a:lvl1pPr>
          </a:lstStyle>
          <a:p>
            <a:pPr/>
            <a:r>
              <a:t>Backend Architecture</a:t>
            </a:r>
          </a:p>
        </p:txBody>
      </p:sp>
      <p:sp>
        <p:nvSpPr>
          <p:cNvPr id="95" name="Text 17"/>
          <p:cNvSpPr txBox="1"/>
          <p:nvPr/>
        </p:nvSpPr>
        <p:spPr>
          <a:xfrm>
            <a:off x="4521086" y="2173288"/>
            <a:ext cx="2966468" cy="27527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app.py</a:t>
            </a:r>
            <a:r>
              <a:rPr b="0">
                <a:solidFill>
                  <a:srgbClr val="FFFFFF"/>
                </a:solidFill>
                <a:latin typeface="Roboto"/>
                <a:ea typeface="Roboto"/>
                <a:cs typeface="Roboto"/>
                <a:sym typeface="Roboto"/>
              </a:rPr>
              <a:t>: Python + Streamlit UI, interview flow, logic.</a:t>
            </a:r>
          </a:p>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backend/evaluator.py</a:t>
            </a:r>
            <a:r>
              <a:rPr b="0">
                <a:solidFill>
                  <a:srgbClr val="FFFFFF"/>
                </a:solidFill>
                <a:latin typeface="Roboto"/>
                <a:ea typeface="Roboto"/>
                <a:cs typeface="Roboto"/>
                <a:sym typeface="Roboto"/>
              </a:rPr>
              <a:t>: answer validation, AI and offline scoring.</a:t>
            </a:r>
          </a:p>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backend/models.py</a:t>
            </a:r>
            <a:r>
              <a:rPr b="0">
                <a:solidFill>
                  <a:srgbClr val="FFFFFF"/>
                </a:solidFill>
                <a:latin typeface="Roboto"/>
                <a:ea typeface="Roboto"/>
                <a:cs typeface="Roboto"/>
                <a:sym typeface="Roboto"/>
              </a:rPr>
              <a:t>: structured questions, sessions, evaluations.</a:t>
            </a:r>
          </a:p>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backend/question_bank.py</a:t>
            </a:r>
            <a:r>
              <a:rPr b="0">
                <a:solidFill>
                  <a:srgbClr val="FFFFFF"/>
                </a:solidFill>
                <a:latin typeface="Roboto"/>
                <a:ea typeface="Roboto"/>
                <a:cs typeface="Roboto"/>
                <a:sym typeface="Roboto"/>
              </a:rPr>
              <a:t>: role and topic question data.</a:t>
            </a:r>
          </a:p>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Speech processing</a:t>
            </a:r>
            <a:r>
              <a:rPr b="0">
                <a:solidFill>
                  <a:srgbClr val="FFFFFF"/>
                </a:solidFill>
                <a:latin typeface="Roboto"/>
                <a:ea typeface="Roboto"/>
                <a:cs typeface="Roboto"/>
                <a:sym typeface="Roboto"/>
              </a:rPr>
              <a:t>: recorded answers converted to text.</a:t>
            </a:r>
          </a:p>
          <a:p>
            <a:pPr marL="248310" indent="-248310" defTabSz="859536">
              <a:lnSpc>
                <a:spcPct val="116000"/>
              </a:lnSpc>
              <a:buSzPct val="100000"/>
              <a:buChar char="•"/>
              <a:defRPr b="1" sz="1222">
                <a:solidFill>
                  <a:srgbClr val="B6FCB8"/>
                </a:solidFill>
                <a:latin typeface="Roboto Bold"/>
                <a:ea typeface="Roboto Bold"/>
                <a:cs typeface="Roboto Bold"/>
                <a:sym typeface="Roboto Bold"/>
              </a:defRPr>
            </a:pPr>
            <a:r>
              <a:t>JavaScript + localStorage</a:t>
            </a:r>
            <a:r>
              <a:rPr b="0">
                <a:solidFill>
                  <a:srgbClr val="FFFFFF"/>
                </a:solidFill>
                <a:latin typeface="Roboto"/>
                <a:ea typeface="Roboto"/>
                <a:cs typeface="Roboto"/>
                <a:sym typeface="Roboto"/>
              </a:rPr>
              <a:t>: profiles and histories in browser.</a:t>
            </a:r>
          </a:p>
        </p:txBody>
      </p:sp>
      <p:pic>
        <p:nvPicPr>
          <p:cNvPr id="96" name="Image 1" descr="Image 1"/>
          <p:cNvPicPr>
            <a:picLocks noChangeAspect="1"/>
          </p:cNvPicPr>
          <p:nvPr/>
        </p:nvPicPr>
        <p:blipFill>
          <a:blip r:embed="rId2">
            <a:extLst/>
          </a:blip>
          <a:stretch>
            <a:fillRect/>
          </a:stretch>
        </p:blipFill>
        <p:spPr>
          <a:xfrm>
            <a:off x="7810106" y="3546673"/>
            <a:ext cx="411550" cy="411560"/>
          </a:xfrm>
          <a:prstGeom prst="rect">
            <a:avLst/>
          </a:prstGeom>
          <a:ln w="12700">
            <a:miter lim="400000"/>
          </a:ln>
        </p:spPr>
      </p:pic>
      <p:sp>
        <p:nvSpPr>
          <p:cNvPr id="97" name="Shape 18"/>
          <p:cNvSpPr/>
          <p:nvPr/>
        </p:nvSpPr>
        <p:spPr>
          <a:xfrm>
            <a:off x="8290313" y="1540866"/>
            <a:ext cx="3291699" cy="442337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98" name="Text 19"/>
          <p:cNvSpPr txBox="1"/>
          <p:nvPr/>
        </p:nvSpPr>
        <p:spPr>
          <a:xfrm>
            <a:off x="8544307" y="1829316"/>
            <a:ext cx="2884600"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200">
                <a:solidFill>
                  <a:srgbClr val="FFFFFF"/>
                </a:solidFill>
                <a:latin typeface="Inter Tight Bold"/>
                <a:ea typeface="Inter Tight Bold"/>
                <a:cs typeface="Inter Tight Bold"/>
                <a:sym typeface="Inter Tight Bold"/>
              </a:defRPr>
            </a:lvl1pPr>
          </a:lstStyle>
          <a:p>
            <a:pPr/>
            <a:r>
              <a:t>AI &amp; Evaluation Logic</a:t>
            </a:r>
          </a:p>
        </p:txBody>
      </p:sp>
      <p:sp>
        <p:nvSpPr>
          <p:cNvPr id="99" name="Text 20"/>
          <p:cNvSpPr txBox="1"/>
          <p:nvPr/>
        </p:nvSpPr>
        <p:spPr>
          <a:xfrm>
            <a:off x="8544307" y="2173288"/>
            <a:ext cx="2783712" cy="252333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48310" indent="-248310" defTabSz="859536">
              <a:lnSpc>
                <a:spcPct val="116000"/>
              </a:lnSpc>
              <a:buSzPct val="100000"/>
              <a:buAutoNum type="arabicPeriod" startAt="1"/>
              <a:defRPr b="1" sz="1222">
                <a:solidFill>
                  <a:srgbClr val="B6FCB8"/>
                </a:solidFill>
                <a:latin typeface="Roboto Bold"/>
                <a:ea typeface="Roboto Bold"/>
                <a:cs typeface="Roboto Bold"/>
                <a:sym typeface="Roboto Bold"/>
              </a:defRPr>
            </a:pPr>
            <a:r>
              <a:t>Gemini / Groq / OpenAI APIs</a:t>
            </a:r>
            <a:r>
              <a:rPr b="0">
                <a:solidFill>
                  <a:srgbClr val="FFFFFF"/>
                </a:solidFill>
                <a:latin typeface="Roboto"/>
                <a:ea typeface="Roboto"/>
                <a:cs typeface="Roboto"/>
                <a:sym typeface="Roboto"/>
              </a:rPr>
              <a:t> generate role-specific questions and follow-ups.</a:t>
            </a:r>
          </a:p>
          <a:p>
            <a:pPr marL="248310" indent="-248310" defTabSz="859536">
              <a:lnSpc>
                <a:spcPct val="116000"/>
              </a:lnSpc>
              <a:buSzPct val="100000"/>
              <a:buAutoNum type="arabicPeriod" startAt="2"/>
              <a:defRPr b="1" sz="1222">
                <a:solidFill>
                  <a:srgbClr val="B6FCB8"/>
                </a:solidFill>
                <a:latin typeface="Roboto Bold"/>
                <a:ea typeface="Roboto Bold"/>
                <a:cs typeface="Roboto Bold"/>
                <a:sym typeface="Roboto Bold"/>
              </a:defRPr>
            </a:pPr>
            <a:r>
              <a:t>Checks:</a:t>
            </a:r>
            <a:r>
              <a:rPr b="0">
                <a:solidFill>
                  <a:srgbClr val="FFFFFF"/>
                </a:solidFill>
                <a:latin typeface="Roboto"/>
                <a:ea typeface="Roboto"/>
                <a:cs typeface="Roboto"/>
                <a:sym typeface="Roboto"/>
              </a:rPr>
              <a:t> relevance, structure, evidence and ownership, clarity.</a:t>
            </a:r>
          </a:p>
          <a:p>
            <a:pPr marL="248310" indent="-248310" defTabSz="859536">
              <a:lnSpc>
                <a:spcPct val="116000"/>
              </a:lnSpc>
              <a:buSzPct val="100000"/>
              <a:buAutoNum type="arabicPeriod" startAt="3"/>
              <a:defRPr sz="1222">
                <a:solidFill>
                  <a:srgbClr val="FFFFFF"/>
                </a:solidFill>
              </a:defRPr>
            </a:pPr>
            <a:r>
              <a:t>Rejects gibberish or clearly unrelated answers before scoring.</a:t>
            </a:r>
          </a:p>
          <a:p>
            <a:pPr marL="248310" indent="-248310" defTabSz="859536">
              <a:lnSpc>
                <a:spcPct val="116000"/>
              </a:lnSpc>
              <a:buSzPct val="100000"/>
              <a:buAutoNum type="arabicPeriod" startAt="4"/>
              <a:defRPr sz="1222">
                <a:solidFill>
                  <a:srgbClr val="FFFFFF"/>
                </a:solidFill>
              </a:defRPr>
            </a:pPr>
            <a:r>
              <a:t>Rule-based heuristics provide an offline fallback.</a:t>
            </a:r>
          </a:p>
          <a:p>
            <a:pPr marL="248310" indent="-248310" defTabSz="859536">
              <a:lnSpc>
                <a:spcPct val="116000"/>
              </a:lnSpc>
              <a:buSzPct val="100000"/>
              <a:buAutoNum type="arabicPeriod" startAt="5"/>
              <a:defRPr sz="1222">
                <a:solidFill>
                  <a:srgbClr val="FFFFFF"/>
                </a:solidFill>
              </a:defRPr>
            </a:pPr>
            <a:r>
              <a:t>Returns scores, strengths, and improvement suggestions.</a:t>
            </a:r>
          </a:p>
        </p:txBody>
      </p:sp>
      <p:sp>
        <p:nvSpPr>
          <p:cNvPr id="100" name="Text 21"/>
          <p:cNvSpPr txBox="1"/>
          <p:nvPr/>
        </p:nvSpPr>
        <p:spPr>
          <a:xfrm>
            <a:off x="609584" y="6018708"/>
            <a:ext cx="6585745" cy="203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000"/>
              </a:lnSpc>
              <a:defRPr sz="1300"/>
            </a:lvl1pPr>
          </a:lstStyle>
          <a:p>
            <a:pPr/>
            <a:r>
              <a:t>Python · Streamlit · Gemini / Groq / OpenAI APIs · HTML · CSS · JavaScript · localStorage</a:t>
            </a:r>
          </a:p>
        </p:txBody>
      </p:sp>
      <p:sp>
        <p:nvSpPr>
          <p:cNvPr id="101" name="Shape 22"/>
          <p:cNvSpPr/>
          <p:nvPr/>
        </p:nvSpPr>
        <p:spPr>
          <a:xfrm>
            <a:off x="609584" y="3428205"/>
            <a:ext cx="3007247"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02" name="Shape 23"/>
          <p:cNvSpPr/>
          <p:nvPr/>
        </p:nvSpPr>
        <p:spPr>
          <a:xfrm>
            <a:off x="609584" y="4692948"/>
            <a:ext cx="3007247"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103" name="Image 2" descr="Image 2"/>
          <p:cNvPicPr>
            <a:picLocks noChangeAspect="1"/>
          </p:cNvPicPr>
          <p:nvPr/>
        </p:nvPicPr>
        <p:blipFill>
          <a:blip r:embed="rId3">
            <a:extLst/>
          </a:blip>
          <a:stretch>
            <a:fillRect/>
          </a:stretch>
        </p:blipFill>
        <p:spPr>
          <a:xfrm>
            <a:off x="11077099" y="6559550"/>
            <a:ext cx="1071834" cy="255985"/>
          </a:xfrm>
          <a:prstGeom prst="rect">
            <a:avLst/>
          </a:prstGeom>
          <a:ln w="12700">
            <a:miter lim="400000"/>
          </a:ln>
        </p:spPr>
      </p:pic>
      <p:sp>
        <p:nvSpPr>
          <p:cNvPr id="104" name="Rounded Rectangle"/>
          <p:cNvSpPr/>
          <p:nvPr/>
        </p:nvSpPr>
        <p:spPr>
          <a:xfrm>
            <a:off x="-24232" y="6514240"/>
            <a:ext cx="12166601"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Shape 0"/>
          <p:cNvSpPr/>
          <p:nvPr/>
        </p:nvSpPr>
        <p:spPr>
          <a:xfrm>
            <a:off x="0" y="-1"/>
            <a:ext cx="4673483" cy="685810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07" name="Shape 1"/>
          <p:cNvSpPr/>
          <p:nvPr/>
        </p:nvSpPr>
        <p:spPr>
          <a:xfrm>
            <a:off x="507987" y="4303812"/>
            <a:ext cx="1231969" cy="38101"/>
          </a:xfrm>
          <a:prstGeom prst="roundRect">
            <a:avLst>
              <a:gd name="adj" fmla="val 49999"/>
            </a:avLst>
          </a:prstGeom>
          <a:solidFill>
            <a:srgbClr val="B6FCB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08" name="Text 2"/>
          <p:cNvSpPr txBox="1"/>
          <p:nvPr/>
        </p:nvSpPr>
        <p:spPr>
          <a:xfrm>
            <a:off x="507986" y="4788065"/>
            <a:ext cx="3676560" cy="156358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90000"/>
              </a:lnSpc>
              <a:defRPr b="1" sz="3686">
                <a:solidFill>
                  <a:srgbClr val="FFFFFF"/>
                </a:solidFill>
                <a:latin typeface="Inter Tight Bold"/>
                <a:ea typeface="Inter Tight Bold"/>
                <a:cs typeface="Inter Tight Bold"/>
                <a:sym typeface="Inter Tight Bold"/>
              </a:defRPr>
            </a:lvl1pPr>
          </a:lstStyle>
          <a:p>
            <a:pPr/>
            <a:r>
              <a:t>Four objectives guide the solution</a:t>
            </a:r>
          </a:p>
        </p:txBody>
      </p:sp>
      <p:sp>
        <p:nvSpPr>
          <p:cNvPr id="109" name="Shape 3"/>
          <p:cNvSpPr/>
          <p:nvPr/>
        </p:nvSpPr>
        <p:spPr>
          <a:xfrm>
            <a:off x="5181470" y="1508919"/>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10" name="Text 4"/>
          <p:cNvSpPr txBox="1"/>
          <p:nvPr/>
        </p:nvSpPr>
        <p:spPr>
          <a:xfrm>
            <a:off x="5235444" y="1588294"/>
            <a:ext cx="21046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01</a:t>
            </a:r>
          </a:p>
        </p:txBody>
      </p:sp>
      <p:sp>
        <p:nvSpPr>
          <p:cNvPr id="111" name="Text 5"/>
          <p:cNvSpPr txBox="1"/>
          <p:nvPr/>
        </p:nvSpPr>
        <p:spPr>
          <a:xfrm>
            <a:off x="5670408" y="1523563"/>
            <a:ext cx="1989138"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Practice broadly</a:t>
            </a:r>
          </a:p>
        </p:txBody>
      </p:sp>
      <p:sp>
        <p:nvSpPr>
          <p:cNvPr id="112" name="Text 6"/>
          <p:cNvSpPr txBox="1"/>
          <p:nvPr/>
        </p:nvSpPr>
        <p:spPr>
          <a:xfrm>
            <a:off x="5670408" y="1950541"/>
            <a:ext cx="5905353"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One backend flow supports technical, behavioural, and project-based practice.</a:t>
            </a:r>
          </a:p>
        </p:txBody>
      </p:sp>
      <p:sp>
        <p:nvSpPr>
          <p:cNvPr id="113" name="Shape 7"/>
          <p:cNvSpPr/>
          <p:nvPr/>
        </p:nvSpPr>
        <p:spPr>
          <a:xfrm>
            <a:off x="5181470" y="2752824"/>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14" name="Text 8"/>
          <p:cNvSpPr txBox="1"/>
          <p:nvPr/>
        </p:nvSpPr>
        <p:spPr>
          <a:xfrm>
            <a:off x="5235444" y="2832199"/>
            <a:ext cx="21046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02</a:t>
            </a:r>
          </a:p>
        </p:txBody>
      </p:sp>
      <p:sp>
        <p:nvSpPr>
          <p:cNvPr id="115" name="Text 9"/>
          <p:cNvSpPr txBox="1"/>
          <p:nvPr/>
        </p:nvSpPr>
        <p:spPr>
          <a:xfrm>
            <a:off x="5670408" y="2767370"/>
            <a:ext cx="2539430"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Explain the feedback</a:t>
            </a:r>
          </a:p>
        </p:txBody>
      </p:sp>
      <p:sp>
        <p:nvSpPr>
          <p:cNvPr id="116" name="Text 10"/>
          <p:cNvSpPr txBox="1"/>
          <p:nvPr/>
        </p:nvSpPr>
        <p:spPr>
          <a:xfrm>
            <a:off x="5670408" y="3211314"/>
            <a:ext cx="4924512"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400"/>
            </a:lvl1pPr>
          </a:lstStyle>
          <a:p>
            <a:pPr/>
            <a:r>
              <a:t>Score four criteria and explain strengths and areas to improve.</a:t>
            </a:r>
          </a:p>
        </p:txBody>
      </p:sp>
      <p:sp>
        <p:nvSpPr>
          <p:cNvPr id="117" name="Shape 11"/>
          <p:cNvSpPr/>
          <p:nvPr/>
        </p:nvSpPr>
        <p:spPr>
          <a:xfrm>
            <a:off x="5181470" y="373895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18" name="Text 12"/>
          <p:cNvSpPr txBox="1"/>
          <p:nvPr/>
        </p:nvSpPr>
        <p:spPr>
          <a:xfrm>
            <a:off x="5235444" y="3818333"/>
            <a:ext cx="21046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03</a:t>
            </a:r>
          </a:p>
        </p:txBody>
      </p:sp>
      <p:sp>
        <p:nvSpPr>
          <p:cNvPr id="119" name="Text 13"/>
          <p:cNvSpPr txBox="1"/>
          <p:nvPr/>
        </p:nvSpPr>
        <p:spPr>
          <a:xfrm>
            <a:off x="5670408" y="3753603"/>
            <a:ext cx="194647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Keep the record</a:t>
            </a:r>
          </a:p>
        </p:txBody>
      </p:sp>
      <p:sp>
        <p:nvSpPr>
          <p:cNvPr id="120" name="Text 14"/>
          <p:cNvSpPr txBox="1"/>
          <p:nvPr/>
        </p:nvSpPr>
        <p:spPr>
          <a:xfrm>
            <a:off x="5670408" y="4197350"/>
            <a:ext cx="5675561"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400"/>
            </a:lvl1pPr>
          </a:lstStyle>
          <a:p>
            <a:pPr/>
            <a:r>
              <a:t>Save answers, follow-up questions, and scores in browser localStorage.</a:t>
            </a:r>
          </a:p>
        </p:txBody>
      </p:sp>
      <p:sp>
        <p:nvSpPr>
          <p:cNvPr id="121" name="Shape 15"/>
          <p:cNvSpPr/>
          <p:nvPr/>
        </p:nvSpPr>
        <p:spPr>
          <a:xfrm>
            <a:off x="5181470" y="4724994"/>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22" name="Text 16"/>
          <p:cNvSpPr txBox="1"/>
          <p:nvPr/>
        </p:nvSpPr>
        <p:spPr>
          <a:xfrm>
            <a:off x="5235444" y="4804369"/>
            <a:ext cx="21046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04</a:t>
            </a:r>
          </a:p>
        </p:txBody>
      </p:sp>
      <p:sp>
        <p:nvSpPr>
          <p:cNvPr id="123" name="Text 17"/>
          <p:cNvSpPr txBox="1"/>
          <p:nvPr/>
        </p:nvSpPr>
        <p:spPr>
          <a:xfrm>
            <a:off x="5670408" y="4739640"/>
            <a:ext cx="2482627"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Stay straightforward</a:t>
            </a:r>
          </a:p>
        </p:txBody>
      </p:sp>
      <p:sp>
        <p:nvSpPr>
          <p:cNvPr id="124" name="Text 18"/>
          <p:cNvSpPr txBox="1"/>
          <p:nvPr/>
        </p:nvSpPr>
        <p:spPr>
          <a:xfrm>
            <a:off x="5670408" y="5183287"/>
            <a:ext cx="470721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400"/>
            </a:lvl1pPr>
          </a:lstStyle>
          <a:p>
            <a:pPr/>
            <a:r>
              <a:t>A simple Streamlit interface keeps the focus on preparation.</a:t>
            </a:r>
          </a:p>
        </p:txBody>
      </p:sp>
      <p:sp>
        <p:nvSpPr>
          <p:cNvPr id="125" name="Shape 19"/>
          <p:cNvSpPr/>
          <p:nvPr/>
        </p:nvSpPr>
        <p:spPr>
          <a:xfrm>
            <a:off x="5181470" y="2603599"/>
            <a:ext cx="6451440" cy="1270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26" name="Shape 20"/>
          <p:cNvSpPr/>
          <p:nvPr/>
        </p:nvSpPr>
        <p:spPr>
          <a:xfrm>
            <a:off x="5181470" y="3589733"/>
            <a:ext cx="6451440" cy="1270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27" name="Shape 21"/>
          <p:cNvSpPr/>
          <p:nvPr/>
        </p:nvSpPr>
        <p:spPr>
          <a:xfrm>
            <a:off x="5181470" y="4575769"/>
            <a:ext cx="6451440" cy="1270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128" name="Image 0" descr="Image 0"/>
          <p:cNvPicPr>
            <a:picLocks noChangeAspect="1"/>
          </p:cNvPicPr>
          <p:nvPr/>
        </p:nvPicPr>
        <p:blipFill>
          <a:blip r:embed="rId2">
            <a:extLst/>
          </a:blip>
          <a:stretch>
            <a:fillRect/>
          </a:stretch>
        </p:blipFill>
        <p:spPr>
          <a:xfrm>
            <a:off x="11077099" y="6559550"/>
            <a:ext cx="1071834" cy="255985"/>
          </a:xfrm>
          <a:prstGeom prst="rect">
            <a:avLst/>
          </a:prstGeom>
          <a:ln w="12700">
            <a:miter lim="400000"/>
          </a:ln>
        </p:spPr>
      </p:pic>
      <p:sp>
        <p:nvSpPr>
          <p:cNvPr id="129" name="Rounded Rectangle"/>
          <p:cNvSpPr/>
          <p:nvPr/>
        </p:nvSpPr>
        <p:spPr>
          <a:xfrm>
            <a:off x="4672010" y="6514240"/>
            <a:ext cx="7470359"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0"/>
          <p:cNvSpPr/>
          <p:nvPr/>
        </p:nvSpPr>
        <p:spPr>
          <a:xfrm>
            <a:off x="-1" y="-1"/>
            <a:ext cx="6908629" cy="33148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32" name="Text 1"/>
          <p:cNvSpPr txBox="1"/>
          <p:nvPr/>
        </p:nvSpPr>
        <p:spPr>
          <a:xfrm>
            <a:off x="609584" y="759386"/>
            <a:ext cx="5886305" cy="104239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90000"/>
              </a:lnSpc>
              <a:defRPr b="1" sz="3686">
                <a:solidFill>
                  <a:srgbClr val="FFFFFF"/>
                </a:solidFill>
                <a:latin typeface="Inter Tight Bold"/>
                <a:ea typeface="Inter Tight Bold"/>
                <a:cs typeface="Inter Tight Bold"/>
                <a:sym typeface="Inter Tight Bold"/>
              </a:defRPr>
            </a:lvl1pPr>
          </a:lstStyle>
          <a:p>
            <a:pPr/>
            <a:r>
              <a:t>One loop connects practice to improvement</a:t>
            </a:r>
          </a:p>
        </p:txBody>
      </p:sp>
      <p:sp>
        <p:nvSpPr>
          <p:cNvPr id="133" name="Text 2"/>
          <p:cNvSpPr txBox="1"/>
          <p:nvPr/>
        </p:nvSpPr>
        <p:spPr>
          <a:xfrm>
            <a:off x="609584" y="2003950"/>
            <a:ext cx="5886305" cy="65821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59536">
              <a:lnSpc>
                <a:spcPct val="90000"/>
              </a:lnSpc>
              <a:defRPr b="1" sz="2256">
                <a:solidFill>
                  <a:srgbClr val="B6FCB8"/>
                </a:solidFill>
                <a:latin typeface="Inter Tight Bold"/>
                <a:ea typeface="Inter Tight Bold"/>
                <a:cs typeface="Inter Tight Bold"/>
                <a:sym typeface="Inter Tight Bold"/>
              </a:defRPr>
            </a:lvl1pPr>
          </a:lstStyle>
          <a:p>
            <a:pPr/>
            <a:r>
              <a:t>Every attempt moves through the same six steps.</a:t>
            </a:r>
          </a:p>
        </p:txBody>
      </p:sp>
      <p:sp>
        <p:nvSpPr>
          <p:cNvPr id="134" name="Shape 3"/>
          <p:cNvSpPr/>
          <p:nvPr/>
        </p:nvSpPr>
        <p:spPr>
          <a:xfrm>
            <a:off x="6908627" y="-1"/>
            <a:ext cx="5283069" cy="3314800"/>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135" name="Image 0" descr="Image 0"/>
          <p:cNvPicPr>
            <a:picLocks noChangeAspect="1"/>
          </p:cNvPicPr>
          <p:nvPr/>
        </p:nvPicPr>
        <p:blipFill>
          <a:blip r:embed="rId3">
            <a:extLst/>
          </a:blip>
          <a:stretch>
            <a:fillRect/>
          </a:stretch>
        </p:blipFill>
        <p:spPr>
          <a:xfrm>
            <a:off x="6908627" y="254000"/>
            <a:ext cx="4775082" cy="2806800"/>
          </a:xfrm>
          <a:prstGeom prst="rect">
            <a:avLst/>
          </a:prstGeom>
          <a:ln w="12700">
            <a:miter lim="400000"/>
          </a:ln>
        </p:spPr>
      </p:pic>
      <p:sp>
        <p:nvSpPr>
          <p:cNvPr id="136" name="Shape 4"/>
          <p:cNvSpPr/>
          <p:nvPr/>
        </p:nvSpPr>
        <p:spPr>
          <a:xfrm>
            <a:off x="507987"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37" name="Text 5"/>
          <p:cNvSpPr txBox="1"/>
          <p:nvPr/>
        </p:nvSpPr>
        <p:spPr>
          <a:xfrm>
            <a:off x="612759"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1</a:t>
            </a:r>
          </a:p>
        </p:txBody>
      </p:sp>
      <p:sp>
        <p:nvSpPr>
          <p:cNvPr id="138" name="Shape 6"/>
          <p:cNvSpPr/>
          <p:nvPr/>
        </p:nvSpPr>
        <p:spPr>
          <a:xfrm>
            <a:off x="507987" y="4027091"/>
            <a:ext cx="1735491"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39" name="Text 7"/>
          <p:cNvSpPr txBox="1"/>
          <p:nvPr/>
        </p:nvSpPr>
        <p:spPr>
          <a:xfrm>
            <a:off x="507987" y="4147799"/>
            <a:ext cx="944117"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Choose</a:t>
            </a:r>
          </a:p>
        </p:txBody>
      </p:sp>
      <p:sp>
        <p:nvSpPr>
          <p:cNvPr id="140" name="Text 8"/>
          <p:cNvSpPr txBox="1"/>
          <p:nvPr/>
        </p:nvSpPr>
        <p:spPr>
          <a:xfrm>
            <a:off x="507987" y="4484587"/>
            <a:ext cx="1678341"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Section, target role, practice type.</a:t>
            </a:r>
          </a:p>
        </p:txBody>
      </p:sp>
      <p:sp>
        <p:nvSpPr>
          <p:cNvPr id="141" name="Shape 9"/>
          <p:cNvSpPr/>
          <p:nvPr/>
        </p:nvSpPr>
        <p:spPr>
          <a:xfrm>
            <a:off x="2395873"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42" name="Text 10"/>
          <p:cNvSpPr txBox="1"/>
          <p:nvPr/>
        </p:nvSpPr>
        <p:spPr>
          <a:xfrm>
            <a:off x="2500646"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2</a:t>
            </a:r>
          </a:p>
        </p:txBody>
      </p:sp>
      <p:sp>
        <p:nvSpPr>
          <p:cNvPr id="143" name="Shape 11"/>
          <p:cNvSpPr/>
          <p:nvPr/>
        </p:nvSpPr>
        <p:spPr>
          <a:xfrm>
            <a:off x="2395873" y="4027091"/>
            <a:ext cx="1735492"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44" name="Text 12"/>
          <p:cNvSpPr txBox="1"/>
          <p:nvPr/>
        </p:nvSpPr>
        <p:spPr>
          <a:xfrm>
            <a:off x="2395873" y="4147799"/>
            <a:ext cx="973015"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Receive</a:t>
            </a:r>
          </a:p>
        </p:txBody>
      </p:sp>
      <p:sp>
        <p:nvSpPr>
          <p:cNvPr id="145" name="Text 13"/>
          <p:cNvSpPr txBox="1"/>
          <p:nvPr/>
        </p:nvSpPr>
        <p:spPr>
          <a:xfrm>
            <a:off x="2395873" y="4484587"/>
            <a:ext cx="1678342"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A question with its expectations.</a:t>
            </a:r>
          </a:p>
        </p:txBody>
      </p:sp>
      <p:sp>
        <p:nvSpPr>
          <p:cNvPr id="146" name="Shape 14"/>
          <p:cNvSpPr/>
          <p:nvPr/>
        </p:nvSpPr>
        <p:spPr>
          <a:xfrm>
            <a:off x="4283959"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47" name="Text 15"/>
          <p:cNvSpPr txBox="1"/>
          <p:nvPr/>
        </p:nvSpPr>
        <p:spPr>
          <a:xfrm>
            <a:off x="4388732"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3</a:t>
            </a:r>
          </a:p>
        </p:txBody>
      </p:sp>
      <p:sp>
        <p:nvSpPr>
          <p:cNvPr id="148" name="Shape 16"/>
          <p:cNvSpPr/>
          <p:nvPr/>
        </p:nvSpPr>
        <p:spPr>
          <a:xfrm>
            <a:off x="4283959" y="4027091"/>
            <a:ext cx="1735492"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49" name="Text 17"/>
          <p:cNvSpPr txBox="1"/>
          <p:nvPr/>
        </p:nvSpPr>
        <p:spPr>
          <a:xfrm>
            <a:off x="4283959" y="4147799"/>
            <a:ext cx="930227"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Answer</a:t>
            </a:r>
          </a:p>
        </p:txBody>
      </p:sp>
      <p:sp>
        <p:nvSpPr>
          <p:cNvPr id="150" name="Text 18"/>
          <p:cNvSpPr txBox="1"/>
          <p:nvPr/>
        </p:nvSpPr>
        <p:spPr>
          <a:xfrm>
            <a:off x="4283959" y="4501455"/>
            <a:ext cx="1544664"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400"/>
            </a:lvl1pPr>
          </a:lstStyle>
          <a:p>
            <a:pPr/>
            <a:r>
              <a:t>Audio or typed text.</a:t>
            </a:r>
          </a:p>
        </p:txBody>
      </p:sp>
      <p:sp>
        <p:nvSpPr>
          <p:cNvPr id="151" name="Shape 19"/>
          <p:cNvSpPr/>
          <p:nvPr/>
        </p:nvSpPr>
        <p:spPr>
          <a:xfrm>
            <a:off x="6172046"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52" name="Text 20"/>
          <p:cNvSpPr txBox="1"/>
          <p:nvPr/>
        </p:nvSpPr>
        <p:spPr>
          <a:xfrm>
            <a:off x="6276818"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4</a:t>
            </a:r>
          </a:p>
        </p:txBody>
      </p:sp>
      <p:sp>
        <p:nvSpPr>
          <p:cNvPr id="153" name="Shape 21"/>
          <p:cNvSpPr/>
          <p:nvPr/>
        </p:nvSpPr>
        <p:spPr>
          <a:xfrm>
            <a:off x="6172046" y="4027091"/>
            <a:ext cx="1735492"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54" name="Text 22"/>
          <p:cNvSpPr txBox="1"/>
          <p:nvPr/>
        </p:nvSpPr>
        <p:spPr>
          <a:xfrm>
            <a:off x="6172046" y="4147799"/>
            <a:ext cx="1057474"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Evaluate</a:t>
            </a:r>
          </a:p>
        </p:txBody>
      </p:sp>
      <p:sp>
        <p:nvSpPr>
          <p:cNvPr id="155" name="Text 23"/>
          <p:cNvSpPr txBox="1"/>
          <p:nvPr/>
        </p:nvSpPr>
        <p:spPr>
          <a:xfrm>
            <a:off x="6172046" y="4484587"/>
            <a:ext cx="1735492" cy="7733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Rubric checks run; AI feedback when an API is configured.</a:t>
            </a:r>
          </a:p>
        </p:txBody>
      </p:sp>
      <p:sp>
        <p:nvSpPr>
          <p:cNvPr id="156" name="Shape 24"/>
          <p:cNvSpPr/>
          <p:nvPr/>
        </p:nvSpPr>
        <p:spPr>
          <a:xfrm>
            <a:off x="8060032"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57" name="Text 25"/>
          <p:cNvSpPr txBox="1"/>
          <p:nvPr/>
        </p:nvSpPr>
        <p:spPr>
          <a:xfrm>
            <a:off x="8164803"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5</a:t>
            </a:r>
          </a:p>
        </p:txBody>
      </p:sp>
      <p:sp>
        <p:nvSpPr>
          <p:cNvPr id="158" name="Shape 26"/>
          <p:cNvSpPr/>
          <p:nvPr/>
        </p:nvSpPr>
        <p:spPr>
          <a:xfrm>
            <a:off x="8060032" y="4027091"/>
            <a:ext cx="1735492"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59" name="Text 27"/>
          <p:cNvSpPr txBox="1"/>
          <p:nvPr/>
        </p:nvSpPr>
        <p:spPr>
          <a:xfrm>
            <a:off x="8060032" y="4147799"/>
            <a:ext cx="888058"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Review</a:t>
            </a:r>
          </a:p>
        </p:txBody>
      </p:sp>
      <p:sp>
        <p:nvSpPr>
          <p:cNvPr id="160" name="Text 28"/>
          <p:cNvSpPr txBox="1"/>
          <p:nvPr/>
        </p:nvSpPr>
        <p:spPr>
          <a:xfrm>
            <a:off x="8060032" y="4484587"/>
            <a:ext cx="1678342" cy="7733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905255">
              <a:defRPr sz="1386"/>
            </a:lvl1pPr>
          </a:lstStyle>
          <a:p>
            <a:pPr/>
            <a:r>
              <a:t>Relevance, structure, evidence and ownership, clarity.</a:t>
            </a:r>
          </a:p>
        </p:txBody>
      </p:sp>
      <p:sp>
        <p:nvSpPr>
          <p:cNvPr id="161" name="Shape 29"/>
          <p:cNvSpPr/>
          <p:nvPr/>
        </p:nvSpPr>
        <p:spPr>
          <a:xfrm>
            <a:off x="9948018" y="3644998"/>
            <a:ext cx="311143" cy="311151"/>
          </a:xfrm>
          <a:prstGeom prst="ellipse">
            <a:avLst/>
          </a:prstGeom>
          <a:solidFill>
            <a:srgbClr val="2743D8"/>
          </a:solidFill>
          <a:ln w="6350">
            <a:solidFill>
              <a:srgbClr val="CACACD"/>
            </a:solidFill>
          </a:ln>
        </p:spPr>
        <p:txBody>
          <a:bodyPr lIns="45719" rIns="45719"/>
          <a:lstStyle/>
          <a:p>
            <a:pPr>
              <a:lnSpc>
                <a:spcPct val="100000"/>
              </a:lnSpc>
              <a:defRPr sz="1800">
                <a:solidFill>
                  <a:srgbClr val="000000"/>
                </a:solidFill>
                <a:latin typeface="+mj-lt"/>
                <a:ea typeface="+mj-ea"/>
                <a:cs typeface="+mj-cs"/>
                <a:sym typeface="Calibri"/>
              </a:defRPr>
            </a:pPr>
          </a:p>
        </p:txBody>
      </p:sp>
      <p:sp>
        <p:nvSpPr>
          <p:cNvPr id="162" name="Text 30"/>
          <p:cNvSpPr txBox="1"/>
          <p:nvPr/>
        </p:nvSpPr>
        <p:spPr>
          <a:xfrm>
            <a:off x="10052791" y="3724373"/>
            <a:ext cx="1270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oboto Medium"/>
                <a:ea typeface="Roboto Medium"/>
                <a:cs typeface="Roboto Medium"/>
                <a:sym typeface="Roboto Medium"/>
              </a:defRPr>
            </a:lvl1pPr>
          </a:lstStyle>
          <a:p>
            <a:pPr/>
            <a:r>
              <a:t>6</a:t>
            </a:r>
          </a:p>
        </p:txBody>
      </p:sp>
      <p:sp>
        <p:nvSpPr>
          <p:cNvPr id="163" name="Shape 31"/>
          <p:cNvSpPr/>
          <p:nvPr/>
        </p:nvSpPr>
        <p:spPr>
          <a:xfrm>
            <a:off x="9948018" y="4027091"/>
            <a:ext cx="1735492" cy="19051"/>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64" name="Text 32"/>
          <p:cNvSpPr txBox="1"/>
          <p:nvPr/>
        </p:nvSpPr>
        <p:spPr>
          <a:xfrm>
            <a:off x="9948018" y="4147799"/>
            <a:ext cx="831752"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Revise</a:t>
            </a:r>
          </a:p>
        </p:txBody>
      </p:sp>
      <p:sp>
        <p:nvSpPr>
          <p:cNvPr id="165" name="Text 33"/>
          <p:cNvSpPr txBox="1"/>
          <p:nvPr/>
        </p:nvSpPr>
        <p:spPr>
          <a:xfrm>
            <a:off x="9948018" y="4484587"/>
            <a:ext cx="1678442" cy="1031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Retry, revisit saved history, or export the report where supported.</a:t>
            </a:r>
          </a:p>
        </p:txBody>
      </p:sp>
      <p:pic>
        <p:nvPicPr>
          <p:cNvPr id="166" name="Image 1" descr="Image 1"/>
          <p:cNvPicPr>
            <a:picLocks noChangeAspect="1"/>
          </p:cNvPicPr>
          <p:nvPr/>
        </p:nvPicPr>
        <p:blipFill>
          <a:blip r:embed="rId4">
            <a:extLst/>
          </a:blip>
          <a:stretch>
            <a:fillRect/>
          </a:stretch>
        </p:blipFill>
        <p:spPr>
          <a:xfrm>
            <a:off x="507987" y="5684937"/>
            <a:ext cx="11175721" cy="496690"/>
          </a:xfrm>
          <a:prstGeom prst="rect">
            <a:avLst/>
          </a:prstGeom>
          <a:ln w="12700">
            <a:miter lim="400000"/>
          </a:ln>
        </p:spPr>
      </p:pic>
      <p:pic>
        <p:nvPicPr>
          <p:cNvPr id="167" name="Image 2" descr="Image 2"/>
          <p:cNvPicPr>
            <a:picLocks noChangeAspect="1"/>
          </p:cNvPicPr>
          <p:nvPr/>
        </p:nvPicPr>
        <p:blipFill>
          <a:blip r:embed="rId5">
            <a:extLst/>
          </a:blip>
          <a:stretch>
            <a:fillRect/>
          </a:stretch>
        </p:blipFill>
        <p:spPr>
          <a:xfrm>
            <a:off x="11077099" y="6559550"/>
            <a:ext cx="1071834" cy="255985"/>
          </a:xfrm>
          <a:prstGeom prst="rect">
            <a:avLst/>
          </a:prstGeom>
          <a:ln w="12700">
            <a:miter lim="400000"/>
          </a:ln>
        </p:spPr>
      </p:pic>
      <p:sp>
        <p:nvSpPr>
          <p:cNvPr id="168" name="Rounded Rectangle"/>
          <p:cNvSpPr/>
          <p:nvPr/>
        </p:nvSpPr>
        <p:spPr>
          <a:xfrm>
            <a:off x="36931" y="6514240"/>
            <a:ext cx="12105438"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Text 0"/>
          <p:cNvSpPr txBox="1"/>
          <p:nvPr/>
        </p:nvSpPr>
        <p:spPr>
          <a:xfrm>
            <a:off x="507986" y="377818"/>
            <a:ext cx="8142884" cy="482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3200">
                <a:solidFill>
                  <a:srgbClr val="2743D8"/>
                </a:solidFill>
                <a:latin typeface="Inter Tight Bold"/>
                <a:ea typeface="Inter Tight Bold"/>
                <a:cs typeface="Inter Tight Bold"/>
                <a:sym typeface="Inter Tight Bold"/>
              </a:defRPr>
            </a:lvl1pPr>
          </a:lstStyle>
          <a:p>
            <a:pPr/>
            <a:r>
              <a:t>InterviewIQ – Workflow and AI Mechanism</a:t>
            </a:r>
          </a:p>
        </p:txBody>
      </p:sp>
      <p:sp>
        <p:nvSpPr>
          <p:cNvPr id="173" name="Shape 1"/>
          <p:cNvSpPr/>
          <p:nvPr/>
        </p:nvSpPr>
        <p:spPr>
          <a:xfrm>
            <a:off x="507987" y="1219200"/>
            <a:ext cx="3174921" cy="4470499"/>
          </a:xfrm>
          <a:prstGeom prst="roundRect">
            <a:avLst>
              <a:gd name="adj" fmla="val 1296"/>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74" name="Text 2"/>
          <p:cNvSpPr txBox="1"/>
          <p:nvPr/>
        </p:nvSpPr>
        <p:spPr>
          <a:xfrm>
            <a:off x="711181" y="1371600"/>
            <a:ext cx="2444492"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pc="84" sz="1400">
                <a:solidFill>
                  <a:srgbClr val="B6FCB8"/>
                </a:solidFill>
                <a:latin typeface="JetBrains Mono"/>
                <a:ea typeface="JetBrains Mono"/>
                <a:cs typeface="JetBrains Mono"/>
                <a:sym typeface="JetBrains Mono"/>
              </a:defRPr>
            </a:lvl1pPr>
          </a:lstStyle>
          <a:p>
            <a:pPr/>
            <a:r>
              <a:t>END-TO-END WORKFLOW</a:t>
            </a:r>
          </a:p>
        </p:txBody>
      </p:sp>
      <p:sp>
        <p:nvSpPr>
          <p:cNvPr id="175" name="Text 3"/>
          <p:cNvSpPr txBox="1"/>
          <p:nvPr/>
        </p:nvSpPr>
        <p:spPr>
          <a:xfrm>
            <a:off x="711181" y="1811833"/>
            <a:ext cx="2819331" cy="257770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366268" indent="-366268">
              <a:buSzPct val="100000"/>
              <a:buAutoNum type="arabicPeriod" startAt="1"/>
              <a:defRPr sz="1400">
                <a:solidFill>
                  <a:srgbClr val="FFFFFF"/>
                </a:solidFill>
              </a:defRPr>
            </a:pPr>
            <a:r>
              <a:t>Open website</a:t>
            </a:r>
          </a:p>
          <a:p>
            <a:pPr marL="366268" indent="-366268">
              <a:buSzPct val="100000"/>
              <a:buAutoNum type="arabicPeriod" startAt="2"/>
              <a:defRPr sz="1400">
                <a:solidFill>
                  <a:srgbClr val="FFFFFF"/>
                </a:solidFill>
              </a:defRPr>
            </a:pPr>
            <a:r>
              <a:t>Candidate ID + PIN login</a:t>
            </a:r>
          </a:p>
          <a:p>
            <a:pPr marL="366268" indent="-366268">
              <a:buSzPct val="100000"/>
              <a:buAutoNum type="arabicPeriod" startAt="3"/>
              <a:defRPr sz="1400">
                <a:solidFill>
                  <a:srgbClr val="FFFFFF"/>
                </a:solidFill>
              </a:defRPr>
            </a:pPr>
            <a:r>
              <a:t>Select interview role</a:t>
            </a:r>
          </a:p>
          <a:p>
            <a:pPr marL="366268" indent="-366268">
              <a:buSzPct val="100000"/>
              <a:buAutoNum type="arabicPeriod" startAt="4"/>
              <a:defRPr sz="1400">
                <a:solidFill>
                  <a:srgbClr val="FFFFFF"/>
                </a:solidFill>
              </a:defRPr>
            </a:pPr>
            <a:r>
              <a:t>Generate questions</a:t>
            </a:r>
          </a:p>
          <a:p>
            <a:pPr marL="366268" indent="-366268">
              <a:buSzPct val="100000"/>
              <a:buAutoNum type="arabicPeriod" startAt="5"/>
              <a:defRPr sz="1400">
                <a:solidFill>
                  <a:srgbClr val="FFFFFF"/>
                </a:solidFill>
              </a:defRPr>
            </a:pPr>
            <a:r>
              <a:t>Submit typed or spoken answers</a:t>
            </a:r>
          </a:p>
          <a:p>
            <a:pPr marL="366268" indent="-366268">
              <a:buSzPct val="100000"/>
              <a:buAutoNum type="arabicPeriod" startAt="6"/>
              <a:defRPr b="1" sz="1400">
                <a:solidFill>
                  <a:srgbClr val="B6FCB8"/>
                </a:solidFill>
                <a:latin typeface="Roboto Bold"/>
                <a:ea typeface="Roboto Bold"/>
                <a:cs typeface="Roboto Bold"/>
                <a:sym typeface="Roboto Bold"/>
              </a:defRPr>
            </a:pPr>
            <a:r>
              <a:t>Validate, then AI evaluation</a:t>
            </a:r>
          </a:p>
          <a:p>
            <a:pPr marL="366268" indent="-366268">
              <a:buSzPct val="100000"/>
              <a:buAutoNum type="arabicPeriod" startAt="7"/>
              <a:defRPr sz="1400">
                <a:solidFill>
                  <a:srgbClr val="FFFFFF"/>
                </a:solidFill>
              </a:defRPr>
            </a:pPr>
            <a:r>
              <a:t>Scores &amp; feedback</a:t>
            </a:r>
          </a:p>
          <a:p>
            <a:pPr marL="366268" indent="-366268">
              <a:buSzPct val="100000"/>
              <a:buAutoNum type="arabicPeriod" startAt="8"/>
              <a:defRPr sz="1400">
                <a:solidFill>
                  <a:srgbClr val="FFFFFF"/>
                </a:solidFill>
              </a:defRPr>
            </a:pPr>
            <a:r>
              <a:t>Save history</a:t>
            </a:r>
          </a:p>
          <a:p>
            <a:pPr marL="366268" indent="-366268">
              <a:buSzPct val="100000"/>
              <a:buAutoNum type="arabicPeriod" startAt="9"/>
              <a:defRPr sz="1400">
                <a:solidFill>
                  <a:srgbClr val="FFFFFF"/>
                </a:solidFill>
              </a:defRPr>
            </a:pPr>
            <a:r>
              <a:t>Export report</a:t>
            </a:r>
          </a:p>
        </p:txBody>
      </p:sp>
      <p:sp>
        <p:nvSpPr>
          <p:cNvPr id="176" name="Shape 4"/>
          <p:cNvSpPr/>
          <p:nvPr/>
        </p:nvSpPr>
        <p:spPr>
          <a:xfrm>
            <a:off x="4063898" y="1219200"/>
            <a:ext cx="4063899" cy="50800"/>
          </a:xfrm>
          <a:prstGeom prst="roundRect">
            <a:avLst>
              <a:gd name="adj" fmla="val 49999"/>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77" name="Text 5"/>
          <p:cNvSpPr txBox="1"/>
          <p:nvPr/>
        </p:nvSpPr>
        <p:spPr>
          <a:xfrm>
            <a:off x="4063898" y="1371600"/>
            <a:ext cx="1232454"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pc="84" sz="1400">
                <a:latin typeface="JetBrains Mono"/>
                <a:ea typeface="JetBrains Mono"/>
                <a:cs typeface="JetBrains Mono"/>
                <a:sym typeface="JetBrains Mono"/>
              </a:defRPr>
            </a:lvl1pPr>
          </a:lstStyle>
          <a:p>
            <a:pPr/>
            <a:r>
              <a:t>TECH STACK</a:t>
            </a:r>
          </a:p>
        </p:txBody>
      </p:sp>
      <p:sp>
        <p:nvSpPr>
          <p:cNvPr id="178" name="Text 6"/>
          <p:cNvSpPr txBox="1"/>
          <p:nvPr/>
        </p:nvSpPr>
        <p:spPr>
          <a:xfrm>
            <a:off x="4063898" y="1812527"/>
            <a:ext cx="4063899" cy="283547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366268" indent="-366268">
              <a:buSzPct val="100000"/>
              <a:buChar char="•"/>
              <a:defRPr sz="1400"/>
            </a:pPr>
            <a:r>
              <a:t>Python for backend logic; Streamlit for the web interface.</a:t>
            </a:r>
          </a:p>
          <a:p>
            <a:pPr marL="366268" indent="-366268">
              <a:buSzPct val="100000"/>
              <a:buChar char="•"/>
              <a:defRPr sz="1400"/>
            </a:pPr>
            <a:r>
              <a:t>Gemini / Groq / OpenAI APIs support question generation and answer evaluation.</a:t>
            </a:r>
          </a:p>
          <a:p>
            <a:pPr marL="366268" indent="-366268">
              <a:buSzPct val="100000"/>
              <a:buChar char="•"/>
              <a:defRPr sz="1400"/>
            </a:pPr>
            <a:r>
              <a:t>HTML, CSS, and JavaScript support UI and browser storage.</a:t>
            </a:r>
          </a:p>
          <a:p>
            <a:pPr marL="366268" indent="-366268">
              <a:buSzPct val="100000"/>
              <a:buChar char="•"/>
              <a:defRPr sz="1400"/>
            </a:pPr>
            <a:r>
              <a:t>Pandas supports data handling and analytics.</a:t>
            </a:r>
          </a:p>
          <a:p>
            <a:pPr marL="366268" indent="-366268">
              <a:buSzPct val="100000"/>
              <a:buChar char="•"/>
              <a:defRPr sz="1400"/>
            </a:pPr>
            <a:r>
              <a:t>Candidate ID + PIN access; separate interview session IDs.</a:t>
            </a:r>
          </a:p>
          <a:p>
            <a:pPr marL="366268" indent="-366268">
              <a:buSzPct val="100000"/>
              <a:buChar char="•"/>
              <a:defRPr sz="1400"/>
            </a:pPr>
            <a:r>
              <a:t>Mock interviews and follow-up questions.</a:t>
            </a:r>
          </a:p>
          <a:p>
            <a:pPr marL="366268" indent="-366268">
              <a:buSzPct val="100000"/>
              <a:buChar char="•"/>
              <a:defRPr sz="1400"/>
            </a:pPr>
            <a:r>
              <a:t>Performance analytics and report export.</a:t>
            </a:r>
          </a:p>
        </p:txBody>
      </p:sp>
      <p:sp>
        <p:nvSpPr>
          <p:cNvPr id="179" name="Shape 7"/>
          <p:cNvSpPr/>
          <p:nvPr/>
        </p:nvSpPr>
        <p:spPr>
          <a:xfrm>
            <a:off x="8508786" y="1219200"/>
            <a:ext cx="3174922" cy="50800"/>
          </a:xfrm>
          <a:prstGeom prst="roundRect">
            <a:avLst>
              <a:gd name="adj" fmla="val 49999"/>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80" name="Text 8"/>
          <p:cNvSpPr txBox="1"/>
          <p:nvPr/>
        </p:nvSpPr>
        <p:spPr>
          <a:xfrm>
            <a:off x="8508786" y="1371600"/>
            <a:ext cx="1565006"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pc="84" sz="1400">
                <a:latin typeface="JetBrains Mono"/>
                <a:ea typeface="JetBrains Mono"/>
                <a:cs typeface="JetBrains Mono"/>
                <a:sym typeface="JetBrains Mono"/>
              </a:defRPr>
            </a:lvl1pPr>
          </a:lstStyle>
          <a:p>
            <a:pPr/>
            <a:r>
              <a:t>HOW AI IS USED</a:t>
            </a:r>
          </a:p>
        </p:txBody>
      </p:sp>
      <p:sp>
        <p:nvSpPr>
          <p:cNvPr id="181" name="Text 9"/>
          <p:cNvSpPr txBox="1"/>
          <p:nvPr/>
        </p:nvSpPr>
        <p:spPr>
          <a:xfrm>
            <a:off x="8508786" y="1812527"/>
            <a:ext cx="3174922" cy="231993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366268" indent="-366268">
              <a:buSzPct val="100000"/>
              <a:buChar char="•"/>
              <a:defRPr sz="1400"/>
            </a:pPr>
            <a:r>
              <a:t>Generate role-based questions and follow-ups.</a:t>
            </a:r>
          </a:p>
          <a:p>
            <a:pPr marL="366268" indent="-366268">
              <a:buSzPct val="100000"/>
              <a:buChar char="•"/>
              <a:defRPr sz="1400"/>
            </a:pPr>
            <a:r>
              <a:t>Evaluate </a:t>
            </a:r>
            <a:r>
              <a:rPr b="1">
                <a:latin typeface="Roboto Bold"/>
                <a:ea typeface="Roboto Bold"/>
                <a:cs typeface="Roboto Bold"/>
                <a:sym typeface="Roboto Bold"/>
              </a:rPr>
              <a:t>relevance</a:t>
            </a:r>
            <a:r>
              <a:t>, </a:t>
            </a:r>
            <a:r>
              <a:rPr b="1">
                <a:latin typeface="Roboto Bold"/>
                <a:ea typeface="Roboto Bold"/>
                <a:cs typeface="Roboto Bold"/>
                <a:sym typeface="Roboto Bold"/>
              </a:rPr>
              <a:t>structure</a:t>
            </a:r>
            <a:r>
              <a:t>, </a:t>
            </a:r>
            <a:r>
              <a:rPr b="1">
                <a:latin typeface="Roboto Bold"/>
                <a:ea typeface="Roboto Bold"/>
                <a:cs typeface="Roboto Bold"/>
                <a:sym typeface="Roboto Bold"/>
              </a:rPr>
              <a:t>evidence</a:t>
            </a:r>
            <a:r>
              <a:t>, and </a:t>
            </a:r>
            <a:r>
              <a:rPr b="1">
                <a:latin typeface="Roboto Bold"/>
                <a:ea typeface="Roboto Bold"/>
                <a:cs typeface="Roboto Bold"/>
                <a:sym typeface="Roboto Bold"/>
              </a:rPr>
              <a:t>clarity</a:t>
            </a:r>
            <a:r>
              <a:t>.</a:t>
            </a:r>
          </a:p>
          <a:p>
            <a:pPr marL="366268" indent="-366268">
              <a:buSzPct val="100000"/>
              <a:buChar char="•"/>
              <a:defRPr sz="1400"/>
            </a:pPr>
            <a:r>
              <a:t>Provide scores, strengths, and improvement suggestions.</a:t>
            </a:r>
          </a:p>
          <a:p>
            <a:pPr marL="366268" indent="-366268">
              <a:buSzPct val="100000"/>
              <a:buChar char="•"/>
              <a:defRPr sz="1400"/>
            </a:pPr>
            <a:r>
              <a:t>Rule-based offline evaluation remains available; recorded speech is converted into text.</a:t>
            </a:r>
          </a:p>
        </p:txBody>
      </p:sp>
      <p:sp>
        <p:nvSpPr>
          <p:cNvPr id="182" name="Shape 10"/>
          <p:cNvSpPr/>
          <p:nvPr/>
        </p:nvSpPr>
        <p:spPr>
          <a:xfrm>
            <a:off x="507987" y="5892898"/>
            <a:ext cx="11175721" cy="609601"/>
          </a:xfrm>
          <a:prstGeom prst="roundRect">
            <a:avLst>
              <a:gd name="adj" fmla="val 6750"/>
            </a:avLst>
          </a:prstGeom>
          <a:solidFill>
            <a:srgbClr val="B6FCB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183" name="Text 11"/>
          <p:cNvSpPr txBox="1"/>
          <p:nvPr/>
        </p:nvSpPr>
        <p:spPr>
          <a:xfrm>
            <a:off x="787379" y="6019898"/>
            <a:ext cx="10676435"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a:latin typeface="Roboto Bold"/>
                <a:ea typeface="Roboto Bold"/>
                <a:cs typeface="Roboto Bold"/>
                <a:sym typeface="Roboto Bold"/>
              </a:defRPr>
            </a:lvl1pPr>
          </a:lstStyle>
          <a:p>
            <a:pPr/>
            <a:r>
              <a:t>Provide an interactive, AI-assisted platform for personalized interview practice and performance improvement.</a:t>
            </a:r>
          </a:p>
        </p:txBody>
      </p:sp>
      <p:pic>
        <p:nvPicPr>
          <p:cNvPr id="184" name="Image 0" descr="Image 0"/>
          <p:cNvPicPr>
            <a:picLocks noChangeAspect="1"/>
          </p:cNvPicPr>
          <p:nvPr/>
        </p:nvPicPr>
        <p:blipFill>
          <a:blip r:embed="rId3">
            <a:extLst/>
          </a:blip>
          <a:stretch>
            <a:fillRect/>
          </a:stretch>
        </p:blipFill>
        <p:spPr>
          <a:xfrm>
            <a:off x="11077099" y="6559550"/>
            <a:ext cx="1071834" cy="255985"/>
          </a:xfrm>
          <a:prstGeom prst="rect">
            <a:avLst/>
          </a:prstGeom>
          <a:ln w="12700">
            <a:miter lim="400000"/>
          </a:ln>
        </p:spPr>
      </p:pic>
      <p:sp>
        <p:nvSpPr>
          <p:cNvPr id="185" name="Rounded Rectangle"/>
          <p:cNvSpPr/>
          <p:nvPr/>
        </p:nvSpPr>
        <p:spPr>
          <a:xfrm>
            <a:off x="-24232" y="6514240"/>
            <a:ext cx="12166601"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Image 0" id="252" name="Google Shape;252;p1"/>
          <p:cNvPicPr preferRelativeResize="0"/>
          <p:nvPr/>
        </p:nvPicPr>
        <p:blipFill rotWithShape="1">
          <a:blip r:embed="rId3">
            <a:alphaModFix/>
          </a:blip>
          <a:srcRect b="0" l="0" r="0" t="0"/>
          <a:stretch/>
        </p:blipFill>
        <p:spPr>
          <a:xfrm>
            <a:off x="11076900" y="6559153"/>
            <a:ext cx="1071834" cy="255985"/>
          </a:xfrm>
          <a:prstGeom prst="rect">
            <a:avLst/>
          </a:prstGeom>
          <a:noFill/>
          <a:ln>
            <a:noFill/>
          </a:ln>
        </p:spPr>
      </p:pic>
      <p:sp>
        <p:nvSpPr>
          <p:cNvPr id="253" name="Google Shape;253;p1"/>
          <p:cNvSpPr txBox="1"/>
          <p:nvPr/>
        </p:nvSpPr>
        <p:spPr>
          <a:xfrm>
            <a:off x="152396" y="203677"/>
            <a:ext cx="7846500" cy="4572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Feedback is explained through four checks</a:t>
            </a:r>
            <a:endParaRPr/>
          </a:p>
        </p:txBody>
      </p:sp>
      <p:sp>
        <p:nvSpPr>
          <p:cNvPr id="254" name="Google Shape;254;p1"/>
          <p:cNvSpPr txBox="1"/>
          <p:nvPr/>
        </p:nvSpPr>
        <p:spPr>
          <a:xfrm>
            <a:off x="152395" y="763885"/>
            <a:ext cx="63378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B6FCB8"/>
              </a:buClr>
              <a:buSzPts val="1400"/>
              <a:buFont typeface="Roboto"/>
              <a:buNone/>
            </a:pPr>
            <a:r>
              <a:rPr b="0" i="0" lang="en-US" sz="1400" u="none" cap="none" strike="noStrike">
                <a:solidFill>
                  <a:srgbClr val="B6FCB8"/>
                </a:solidFill>
                <a:latin typeface="Roboto"/>
                <a:ea typeface="Roboto"/>
                <a:cs typeface="Roboto"/>
                <a:sym typeface="Roboto"/>
              </a:rPr>
              <a:t>Each area may be scored from 1 to 5 for practice guidance, not hiring prediction.</a:t>
            </a:r>
            <a:endParaRPr/>
          </a:p>
        </p:txBody>
      </p:sp>
      <p:sp>
        <p:nvSpPr>
          <p:cNvPr id="255" name="Google Shape;255;p1"/>
          <p:cNvSpPr/>
          <p:nvPr/>
        </p:nvSpPr>
        <p:spPr>
          <a:xfrm>
            <a:off x="152396" y="1301054"/>
            <a:ext cx="311100" cy="311100"/>
          </a:xfrm>
          <a:prstGeom prst="ellipse">
            <a:avLst/>
          </a:prstGeom>
          <a:solidFill>
            <a:srgbClr val="B6FCB8"/>
          </a:solidFill>
          <a:ln cap="flat" cmpd="sng" w="9525">
            <a:solidFill>
              <a:srgbClr val="CACACD"/>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6" name="Google Shape;256;p1"/>
          <p:cNvSpPr txBox="1"/>
          <p:nvPr/>
        </p:nvSpPr>
        <p:spPr>
          <a:xfrm>
            <a:off x="257168" y="1380429"/>
            <a:ext cx="126900" cy="216000"/>
          </a:xfrm>
          <a:prstGeom prst="rect">
            <a:avLst/>
          </a:prstGeom>
          <a:noFill/>
          <a:ln>
            <a:noFill/>
          </a:ln>
        </p:spPr>
        <p:txBody>
          <a:bodyPr anchorCtr="0" anchor="t" bIns="0" lIns="0" spcFirstLastPara="1" rIns="0" wrap="square" tIns="0">
            <a:spAutoFit/>
          </a:bodyPr>
          <a:lstStyle/>
          <a:p>
            <a:pPr indent="0" lvl="0" marL="0" marR="0" rtl="0" algn="l">
              <a:lnSpc>
                <a:spcPct val="83000"/>
              </a:lnSpc>
              <a:spcBef>
                <a:spcPts val="0"/>
              </a:spcBef>
              <a:spcAft>
                <a:spcPts val="0"/>
              </a:spcAft>
              <a:buClr>
                <a:srgbClr val="1C1E26"/>
              </a:buClr>
              <a:buSzPts val="1400"/>
              <a:buFont typeface="Roboto Medium"/>
              <a:buNone/>
            </a:pPr>
            <a:r>
              <a:rPr b="0" i="0" lang="en-US" sz="1400" u="none" cap="none" strike="noStrike">
                <a:solidFill>
                  <a:srgbClr val="1C1E26"/>
                </a:solidFill>
                <a:latin typeface="Roboto Medium"/>
                <a:ea typeface="Roboto Medium"/>
                <a:cs typeface="Roboto Medium"/>
                <a:sym typeface="Roboto Medium"/>
              </a:rPr>
              <a:t>1</a:t>
            </a:r>
            <a:endParaRPr/>
          </a:p>
        </p:txBody>
      </p:sp>
      <p:sp>
        <p:nvSpPr>
          <p:cNvPr id="257" name="Google Shape;257;p1"/>
          <p:cNvSpPr txBox="1"/>
          <p:nvPr/>
        </p:nvSpPr>
        <p:spPr>
          <a:xfrm>
            <a:off x="641333" y="1323279"/>
            <a:ext cx="11727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B6FCB8"/>
              </a:buClr>
              <a:buSzPts val="1400"/>
              <a:buFont typeface="JetBrains Mono"/>
              <a:buNone/>
            </a:pPr>
            <a:r>
              <a:rPr b="0" i="0" lang="en-US" sz="1400" u="none" cap="none" strike="noStrike">
                <a:solidFill>
                  <a:srgbClr val="B6FCB8"/>
                </a:solidFill>
                <a:latin typeface="JetBrains Mono"/>
                <a:ea typeface="JetBrains Mono"/>
                <a:cs typeface="JetBrains Mono"/>
                <a:sym typeface="JetBrains Mono"/>
              </a:rPr>
              <a:t>RELEVANCE</a:t>
            </a:r>
            <a:endParaRPr/>
          </a:p>
        </p:txBody>
      </p:sp>
      <p:sp>
        <p:nvSpPr>
          <p:cNvPr id="258" name="Google Shape;258;p1"/>
          <p:cNvSpPr txBox="1"/>
          <p:nvPr/>
        </p:nvSpPr>
        <p:spPr>
          <a:xfrm>
            <a:off x="641333" y="1701463"/>
            <a:ext cx="4811700" cy="304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Does the answer address the question?</a:t>
            </a:r>
            <a:endParaRPr/>
          </a:p>
        </p:txBody>
      </p:sp>
      <p:sp>
        <p:nvSpPr>
          <p:cNvPr id="259" name="Google Shape;259;p1"/>
          <p:cNvSpPr txBox="1"/>
          <p:nvPr/>
        </p:nvSpPr>
        <p:spPr>
          <a:xfrm>
            <a:off x="641333" y="2055216"/>
            <a:ext cx="47070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Improve by</a:t>
            </a:r>
            <a:r>
              <a:rPr b="0" i="0" lang="en-US" sz="1400" u="none" cap="none" strike="noStrike">
                <a:solidFill>
                  <a:srgbClr val="FFFFFF"/>
                </a:solidFill>
                <a:latin typeface="Roboto"/>
                <a:ea typeface="Roboto"/>
                <a:cs typeface="Roboto"/>
                <a:sym typeface="Roboto"/>
              </a:rPr>
              <a:t> connecting the response directly to the prompt.</a:t>
            </a:r>
            <a:endParaRPr/>
          </a:p>
        </p:txBody>
      </p:sp>
      <p:sp>
        <p:nvSpPr>
          <p:cNvPr id="260" name="Google Shape;260;p1"/>
          <p:cNvSpPr/>
          <p:nvPr/>
        </p:nvSpPr>
        <p:spPr>
          <a:xfrm>
            <a:off x="152396" y="2677516"/>
            <a:ext cx="311100" cy="311100"/>
          </a:xfrm>
          <a:prstGeom prst="ellipse">
            <a:avLst/>
          </a:prstGeom>
          <a:solidFill>
            <a:srgbClr val="B6FCB8"/>
          </a:solidFill>
          <a:ln cap="flat" cmpd="sng" w="9525">
            <a:solidFill>
              <a:srgbClr val="CACACD"/>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 name="Google Shape;261;p1"/>
          <p:cNvSpPr txBox="1"/>
          <p:nvPr/>
        </p:nvSpPr>
        <p:spPr>
          <a:xfrm>
            <a:off x="257168" y="2756891"/>
            <a:ext cx="126900" cy="216000"/>
          </a:xfrm>
          <a:prstGeom prst="rect">
            <a:avLst/>
          </a:prstGeom>
          <a:noFill/>
          <a:ln>
            <a:noFill/>
          </a:ln>
        </p:spPr>
        <p:txBody>
          <a:bodyPr anchorCtr="0" anchor="t" bIns="0" lIns="0" spcFirstLastPara="1" rIns="0" wrap="square" tIns="0">
            <a:spAutoFit/>
          </a:bodyPr>
          <a:lstStyle/>
          <a:p>
            <a:pPr indent="0" lvl="0" marL="0" marR="0" rtl="0" algn="l">
              <a:lnSpc>
                <a:spcPct val="83000"/>
              </a:lnSpc>
              <a:spcBef>
                <a:spcPts val="0"/>
              </a:spcBef>
              <a:spcAft>
                <a:spcPts val="0"/>
              </a:spcAft>
              <a:buClr>
                <a:srgbClr val="1C1E26"/>
              </a:buClr>
              <a:buSzPts val="1400"/>
              <a:buFont typeface="Roboto Medium"/>
              <a:buNone/>
            </a:pPr>
            <a:r>
              <a:rPr b="0" i="0" lang="en-US" sz="1400" u="none" cap="none" strike="noStrike">
                <a:solidFill>
                  <a:srgbClr val="1C1E26"/>
                </a:solidFill>
                <a:latin typeface="Roboto Medium"/>
                <a:ea typeface="Roboto Medium"/>
                <a:cs typeface="Roboto Medium"/>
                <a:sym typeface="Roboto Medium"/>
              </a:rPr>
              <a:t>2</a:t>
            </a:r>
            <a:endParaRPr/>
          </a:p>
        </p:txBody>
      </p:sp>
      <p:sp>
        <p:nvSpPr>
          <p:cNvPr id="262" name="Google Shape;262;p1"/>
          <p:cNvSpPr txBox="1"/>
          <p:nvPr/>
        </p:nvSpPr>
        <p:spPr>
          <a:xfrm>
            <a:off x="641333" y="2699741"/>
            <a:ext cx="12051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B6FCB8"/>
              </a:buClr>
              <a:buSzPts val="1400"/>
              <a:buFont typeface="JetBrains Mono"/>
              <a:buNone/>
            </a:pPr>
            <a:r>
              <a:rPr b="0" i="0" lang="en-US" sz="1400" u="none" cap="none" strike="noStrike">
                <a:solidFill>
                  <a:srgbClr val="B6FCB8"/>
                </a:solidFill>
                <a:latin typeface="JetBrains Mono"/>
                <a:ea typeface="JetBrains Mono"/>
                <a:cs typeface="JetBrains Mono"/>
                <a:sym typeface="JetBrains Mono"/>
              </a:rPr>
              <a:t>STRUCTURE</a:t>
            </a:r>
            <a:endParaRPr/>
          </a:p>
        </p:txBody>
      </p:sp>
      <p:sp>
        <p:nvSpPr>
          <p:cNvPr id="263" name="Google Shape;263;p1"/>
          <p:cNvSpPr txBox="1"/>
          <p:nvPr/>
        </p:nvSpPr>
        <p:spPr>
          <a:xfrm>
            <a:off x="641333" y="3078023"/>
            <a:ext cx="5587800" cy="304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Is the response organised and easy to follow?</a:t>
            </a:r>
            <a:endParaRPr/>
          </a:p>
        </p:txBody>
      </p:sp>
      <p:sp>
        <p:nvSpPr>
          <p:cNvPr id="264" name="Google Shape;264;p1"/>
          <p:cNvSpPr txBox="1"/>
          <p:nvPr/>
        </p:nvSpPr>
        <p:spPr>
          <a:xfrm>
            <a:off x="641333" y="3431778"/>
            <a:ext cx="38472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Improve by</a:t>
            </a:r>
            <a:r>
              <a:rPr b="0" i="0" lang="en-US" sz="1400" u="none" cap="none" strike="noStrike">
                <a:solidFill>
                  <a:srgbClr val="FFFFFF"/>
                </a:solidFill>
                <a:latin typeface="Roboto"/>
                <a:ea typeface="Roboto"/>
                <a:cs typeface="Roboto"/>
                <a:sym typeface="Roboto"/>
              </a:rPr>
              <a:t> giving the answer a clear sequence.</a:t>
            </a:r>
            <a:endParaRPr/>
          </a:p>
        </p:txBody>
      </p:sp>
      <p:sp>
        <p:nvSpPr>
          <p:cNvPr id="265" name="Google Shape;265;p1"/>
          <p:cNvSpPr/>
          <p:nvPr/>
        </p:nvSpPr>
        <p:spPr>
          <a:xfrm>
            <a:off x="152396" y="4054176"/>
            <a:ext cx="311100" cy="311100"/>
          </a:xfrm>
          <a:prstGeom prst="ellipse">
            <a:avLst/>
          </a:prstGeom>
          <a:solidFill>
            <a:srgbClr val="B6FCB8"/>
          </a:solidFill>
          <a:ln cap="flat" cmpd="sng" w="9525">
            <a:solidFill>
              <a:srgbClr val="CACACD"/>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6" name="Google Shape;266;p1"/>
          <p:cNvSpPr txBox="1"/>
          <p:nvPr/>
        </p:nvSpPr>
        <p:spPr>
          <a:xfrm>
            <a:off x="257168" y="4133551"/>
            <a:ext cx="126900" cy="216000"/>
          </a:xfrm>
          <a:prstGeom prst="rect">
            <a:avLst/>
          </a:prstGeom>
          <a:noFill/>
          <a:ln>
            <a:noFill/>
          </a:ln>
        </p:spPr>
        <p:txBody>
          <a:bodyPr anchorCtr="0" anchor="t" bIns="0" lIns="0" spcFirstLastPara="1" rIns="0" wrap="square" tIns="0">
            <a:spAutoFit/>
          </a:bodyPr>
          <a:lstStyle/>
          <a:p>
            <a:pPr indent="0" lvl="0" marL="0" marR="0" rtl="0" algn="l">
              <a:lnSpc>
                <a:spcPct val="83000"/>
              </a:lnSpc>
              <a:spcBef>
                <a:spcPts val="0"/>
              </a:spcBef>
              <a:spcAft>
                <a:spcPts val="0"/>
              </a:spcAft>
              <a:buClr>
                <a:srgbClr val="1C1E26"/>
              </a:buClr>
              <a:buSzPts val="1400"/>
              <a:buFont typeface="Roboto Medium"/>
              <a:buNone/>
            </a:pPr>
            <a:r>
              <a:rPr b="0" i="0" lang="en-US" sz="1400" u="none" cap="none" strike="noStrike">
                <a:solidFill>
                  <a:srgbClr val="1C1E26"/>
                </a:solidFill>
                <a:latin typeface="Roboto Medium"/>
                <a:ea typeface="Roboto Medium"/>
                <a:cs typeface="Roboto Medium"/>
                <a:sym typeface="Roboto Medium"/>
              </a:rPr>
              <a:t>3</a:t>
            </a:r>
            <a:endParaRPr/>
          </a:p>
        </p:txBody>
      </p:sp>
      <p:sp>
        <p:nvSpPr>
          <p:cNvPr id="267" name="Google Shape;267;p1"/>
          <p:cNvSpPr txBox="1"/>
          <p:nvPr/>
        </p:nvSpPr>
        <p:spPr>
          <a:xfrm>
            <a:off x="641333" y="4076401"/>
            <a:ext cx="27174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B6FCB8"/>
              </a:buClr>
              <a:buSzPts val="1400"/>
              <a:buFont typeface="JetBrains Mono"/>
              <a:buNone/>
            </a:pPr>
            <a:r>
              <a:rPr b="0" i="0" lang="en-US" sz="1400" u="none" cap="none" strike="noStrike">
                <a:solidFill>
                  <a:srgbClr val="B6FCB8"/>
                </a:solidFill>
                <a:latin typeface="JetBrains Mono"/>
                <a:ea typeface="JetBrains Mono"/>
                <a:cs typeface="JetBrains Mono"/>
                <a:sym typeface="JetBrains Mono"/>
              </a:rPr>
              <a:t>EVIDENCE AND OWNERSHIP</a:t>
            </a:r>
            <a:endParaRPr/>
          </a:p>
        </p:txBody>
      </p:sp>
      <p:sp>
        <p:nvSpPr>
          <p:cNvPr id="268" name="Google Shape;268;p1"/>
          <p:cNvSpPr txBox="1"/>
          <p:nvPr/>
        </p:nvSpPr>
        <p:spPr>
          <a:xfrm>
            <a:off x="641333" y="4454585"/>
            <a:ext cx="7352400" cy="304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Does the candidate explain their own actions and examples?</a:t>
            </a:r>
            <a:endParaRPr/>
          </a:p>
        </p:txBody>
      </p:sp>
      <p:sp>
        <p:nvSpPr>
          <p:cNvPr id="269" name="Google Shape;269;p1"/>
          <p:cNvSpPr txBox="1"/>
          <p:nvPr/>
        </p:nvSpPr>
        <p:spPr>
          <a:xfrm>
            <a:off x="641333" y="4808339"/>
            <a:ext cx="33894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Improve by</a:t>
            </a:r>
            <a:r>
              <a:rPr b="0" i="0" lang="en-US" sz="1400" u="none" cap="none" strike="noStrike">
                <a:solidFill>
                  <a:srgbClr val="FFFFFF"/>
                </a:solidFill>
                <a:latin typeface="Roboto"/>
                <a:ea typeface="Roboto"/>
                <a:cs typeface="Roboto"/>
                <a:sym typeface="Roboto"/>
              </a:rPr>
              <a:t> naming what you did and why.</a:t>
            </a:r>
            <a:endParaRPr/>
          </a:p>
        </p:txBody>
      </p:sp>
      <p:sp>
        <p:nvSpPr>
          <p:cNvPr id="270" name="Google Shape;270;p1"/>
          <p:cNvSpPr/>
          <p:nvPr/>
        </p:nvSpPr>
        <p:spPr>
          <a:xfrm>
            <a:off x="152396" y="5430737"/>
            <a:ext cx="311100" cy="311100"/>
          </a:xfrm>
          <a:prstGeom prst="ellipse">
            <a:avLst/>
          </a:prstGeom>
          <a:solidFill>
            <a:srgbClr val="B6FCB8"/>
          </a:solidFill>
          <a:ln cap="flat" cmpd="sng" w="9525">
            <a:solidFill>
              <a:srgbClr val="CACACD"/>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1"/>
          <p:cNvSpPr txBox="1"/>
          <p:nvPr/>
        </p:nvSpPr>
        <p:spPr>
          <a:xfrm>
            <a:off x="257168" y="5510112"/>
            <a:ext cx="126900" cy="216000"/>
          </a:xfrm>
          <a:prstGeom prst="rect">
            <a:avLst/>
          </a:prstGeom>
          <a:noFill/>
          <a:ln>
            <a:noFill/>
          </a:ln>
        </p:spPr>
        <p:txBody>
          <a:bodyPr anchorCtr="0" anchor="t" bIns="0" lIns="0" spcFirstLastPara="1" rIns="0" wrap="square" tIns="0">
            <a:spAutoFit/>
          </a:bodyPr>
          <a:lstStyle/>
          <a:p>
            <a:pPr indent="0" lvl="0" marL="0" marR="0" rtl="0" algn="l">
              <a:lnSpc>
                <a:spcPct val="83000"/>
              </a:lnSpc>
              <a:spcBef>
                <a:spcPts val="0"/>
              </a:spcBef>
              <a:spcAft>
                <a:spcPts val="0"/>
              </a:spcAft>
              <a:buClr>
                <a:srgbClr val="1C1E26"/>
              </a:buClr>
              <a:buSzPts val="1400"/>
              <a:buFont typeface="Roboto Medium"/>
              <a:buNone/>
            </a:pPr>
            <a:r>
              <a:rPr b="0" i="0" lang="en-US" sz="1400" u="none" cap="none" strike="noStrike">
                <a:solidFill>
                  <a:srgbClr val="1C1E26"/>
                </a:solidFill>
                <a:latin typeface="Roboto Medium"/>
                <a:ea typeface="Roboto Medium"/>
                <a:cs typeface="Roboto Medium"/>
                <a:sym typeface="Roboto Medium"/>
              </a:rPr>
              <a:t>4</a:t>
            </a:r>
            <a:endParaRPr/>
          </a:p>
        </p:txBody>
      </p:sp>
      <p:sp>
        <p:nvSpPr>
          <p:cNvPr id="272" name="Google Shape;272;p1"/>
          <p:cNvSpPr txBox="1"/>
          <p:nvPr/>
        </p:nvSpPr>
        <p:spPr>
          <a:xfrm>
            <a:off x="641333" y="5452962"/>
            <a:ext cx="838200" cy="216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B6FCB8"/>
              </a:buClr>
              <a:buSzPts val="1400"/>
              <a:buFont typeface="JetBrains Mono"/>
              <a:buNone/>
            </a:pPr>
            <a:r>
              <a:rPr b="0" i="0" lang="en-US" sz="1400" u="none" cap="none" strike="noStrike">
                <a:solidFill>
                  <a:srgbClr val="B6FCB8"/>
                </a:solidFill>
                <a:latin typeface="JetBrains Mono"/>
                <a:ea typeface="JetBrains Mono"/>
                <a:cs typeface="JetBrains Mono"/>
                <a:sym typeface="JetBrains Mono"/>
              </a:rPr>
              <a:t>CLARITY</a:t>
            </a:r>
            <a:endParaRPr/>
          </a:p>
        </p:txBody>
      </p:sp>
      <p:sp>
        <p:nvSpPr>
          <p:cNvPr id="273" name="Google Shape;273;p1"/>
          <p:cNvSpPr txBox="1"/>
          <p:nvPr/>
        </p:nvSpPr>
        <p:spPr>
          <a:xfrm>
            <a:off x="641333" y="5831146"/>
            <a:ext cx="5277600" cy="304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Is the answer specific and understandable?</a:t>
            </a:r>
            <a:endParaRPr/>
          </a:p>
        </p:txBody>
      </p:sp>
      <p:sp>
        <p:nvSpPr>
          <p:cNvPr id="274" name="Google Shape;274;p1"/>
          <p:cNvSpPr txBox="1"/>
          <p:nvPr/>
        </p:nvSpPr>
        <p:spPr>
          <a:xfrm>
            <a:off x="384183" y="6362448"/>
            <a:ext cx="4608300" cy="2598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Improve by</a:t>
            </a:r>
            <a:r>
              <a:rPr b="0" i="0" lang="en-US" sz="1400" u="none" cap="none" strike="noStrike">
                <a:solidFill>
                  <a:srgbClr val="FFFFFF"/>
                </a:solidFill>
                <a:latin typeface="Roboto"/>
                <a:ea typeface="Roboto"/>
                <a:cs typeface="Roboto"/>
                <a:sym typeface="Roboto"/>
              </a:rPr>
              <a:t> replacing broad claims with precise language.</a:t>
            </a:r>
            <a:endParaRPr/>
          </a:p>
        </p:txBody>
      </p:sp>
      <p:sp>
        <p:nvSpPr>
          <p:cNvPr id="275" name="Google Shape;275;p1"/>
          <p:cNvSpPr/>
          <p:nvPr/>
        </p:nvSpPr>
        <p:spPr>
          <a:xfrm>
            <a:off x="8909918" y="1199454"/>
            <a:ext cx="3129300" cy="5506200"/>
          </a:xfrm>
          <a:prstGeom prst="rect">
            <a:avLst/>
          </a:prstGeom>
          <a:solidFill>
            <a:srgbClr val="B6FCB8"/>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Image 1" id="276" name="Google Shape;276;p1"/>
          <p:cNvPicPr preferRelativeResize="0"/>
          <p:nvPr/>
        </p:nvPicPr>
        <p:blipFill rotWithShape="1">
          <a:blip r:embed="rId4">
            <a:alphaModFix/>
          </a:blip>
          <a:srcRect b="0" l="0" r="0" t="0"/>
          <a:stretch/>
        </p:blipFill>
        <p:spPr>
          <a:xfrm>
            <a:off x="9585580" y="3063576"/>
            <a:ext cx="1777958" cy="1778001"/>
          </a:xfrm>
          <a:prstGeom prst="rect">
            <a:avLst/>
          </a:prstGeom>
          <a:noFill/>
          <a:ln>
            <a:noFill/>
          </a:ln>
        </p:spPr>
      </p:pic>
      <p:sp>
        <p:nvSpPr>
          <p:cNvPr id="277" name="Google Shape;277;p1"/>
          <p:cNvSpPr/>
          <p:nvPr/>
        </p:nvSpPr>
        <p:spPr>
          <a:xfrm>
            <a:off x="152395" y="2569566"/>
            <a:ext cx="8605200" cy="12600"/>
          </a:xfrm>
          <a:prstGeom prst="rect">
            <a:avLst/>
          </a:prstGeom>
          <a:solidFill>
            <a:srgbClr val="5B5F6E"/>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1"/>
          <p:cNvSpPr/>
          <p:nvPr/>
        </p:nvSpPr>
        <p:spPr>
          <a:xfrm>
            <a:off x="152395" y="3946226"/>
            <a:ext cx="8605200" cy="12600"/>
          </a:xfrm>
          <a:prstGeom prst="rect">
            <a:avLst/>
          </a:prstGeom>
          <a:solidFill>
            <a:srgbClr val="5B5F6E"/>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9" name="Google Shape;279;p1"/>
          <p:cNvSpPr/>
          <p:nvPr/>
        </p:nvSpPr>
        <p:spPr>
          <a:xfrm>
            <a:off x="152395" y="5322787"/>
            <a:ext cx="8605200" cy="12600"/>
          </a:xfrm>
          <a:prstGeom prst="rect">
            <a:avLst/>
          </a:prstGeom>
          <a:solidFill>
            <a:srgbClr val="5B5F6E"/>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Image 2" id="280" name="Google Shape;280;p1"/>
          <p:cNvPicPr preferRelativeResize="0"/>
          <p:nvPr/>
        </p:nvPicPr>
        <p:blipFill rotWithShape="1">
          <a:blip r:embed="rId5">
            <a:alphaModFix/>
          </a:blip>
          <a:srcRect b="0" l="0" r="0" t="0"/>
          <a:stretch/>
        </p:blipFill>
        <p:spPr>
          <a:xfrm>
            <a:off x="11076999" y="6559352"/>
            <a:ext cx="1071834" cy="255985"/>
          </a:xfrm>
          <a:prstGeom prst="rect">
            <a:avLst/>
          </a:prstGeom>
          <a:noFill/>
          <a:ln>
            <a:noFill/>
          </a:ln>
        </p:spPr>
      </p:pic>
      <p:sp>
        <p:nvSpPr>
          <p:cNvPr id="281" name="Google Shape;281;p1"/>
          <p:cNvSpPr/>
          <p:nvPr/>
        </p:nvSpPr>
        <p:spPr>
          <a:xfrm>
            <a:off x="36925" y="6706650"/>
            <a:ext cx="12105600" cy="216000"/>
          </a:xfrm>
          <a:prstGeom prst="roundRect">
            <a:avLst>
              <a:gd fmla="val 45979" name="adj"/>
            </a:avLst>
          </a:prstGeom>
          <a:solidFill>
            <a:srgbClr val="1C1E26"/>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0"/>
          <p:cNvSpPr/>
          <p:nvPr/>
        </p:nvSpPr>
        <p:spPr>
          <a:xfrm>
            <a:off x="8483089" y="2688778"/>
            <a:ext cx="3200519"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799"/>
                </a:moveTo>
                <a:cubicBezTo>
                  <a:pt x="0" y="4835"/>
                  <a:pt x="19" y="0"/>
                  <a:pt x="43" y="0"/>
                </a:cubicBezTo>
                <a:lnTo>
                  <a:pt x="21557" y="0"/>
                </a:lnTo>
                <a:cubicBezTo>
                  <a:pt x="21581" y="0"/>
                  <a:pt x="21600" y="4835"/>
                  <a:pt x="21600" y="10799"/>
                </a:cubicBezTo>
                <a:lnTo>
                  <a:pt x="21600" y="10801"/>
                </a:lnTo>
                <a:cubicBezTo>
                  <a:pt x="21600" y="16765"/>
                  <a:pt x="21581" y="21600"/>
                  <a:pt x="21557" y="21600"/>
                </a:cubicBezTo>
                <a:lnTo>
                  <a:pt x="43" y="21600"/>
                </a:lnTo>
                <a:cubicBezTo>
                  <a:pt x="19" y="21600"/>
                  <a:pt x="0" y="16765"/>
                  <a:pt x="0" y="10801"/>
                </a:cubicBezTo>
                <a:close/>
              </a:path>
            </a:pathLst>
          </a:cu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223" name="Shape 1"/>
          <p:cNvSpPr/>
          <p:nvPr/>
        </p:nvSpPr>
        <p:spPr>
          <a:xfrm>
            <a:off x="0" y="-1"/>
            <a:ext cx="4876678" cy="6858101"/>
          </a:xfrm>
          <a:prstGeom prst="rect">
            <a:avLst/>
          </a:prstGeom>
          <a:solidFill>
            <a:srgbClr val="1C1E26"/>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224" name="Shape 2"/>
          <p:cNvSpPr/>
          <p:nvPr/>
        </p:nvSpPr>
        <p:spPr>
          <a:xfrm>
            <a:off x="5283067" y="5111155"/>
            <a:ext cx="6400641" cy="1289646"/>
          </a:xfrm>
          <a:prstGeom prst="rect">
            <a:avLst/>
          </a:prstGeom>
          <a:solidFill>
            <a:srgbClr val="2743D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225" name="Text 3"/>
          <p:cNvSpPr txBox="1"/>
          <p:nvPr/>
        </p:nvSpPr>
        <p:spPr>
          <a:xfrm>
            <a:off x="507987" y="513835"/>
            <a:ext cx="3905153" cy="123438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59536">
              <a:lnSpc>
                <a:spcPct val="90000"/>
              </a:lnSpc>
              <a:defRPr b="1" sz="2820">
                <a:solidFill>
                  <a:srgbClr val="FFFFFF"/>
                </a:solidFill>
                <a:latin typeface="Inter Tight Bold"/>
                <a:ea typeface="Inter Tight Bold"/>
                <a:cs typeface="Inter Tight Bold"/>
                <a:sym typeface="Inter Tight Bold"/>
              </a:defRPr>
            </a:lvl1pPr>
          </a:lstStyle>
          <a:p>
            <a:pPr/>
            <a:r>
              <a:t>The feature set supports different preparation modes</a:t>
            </a:r>
          </a:p>
        </p:txBody>
      </p:sp>
      <p:sp>
        <p:nvSpPr>
          <p:cNvPr id="226" name="Shape 4"/>
          <p:cNvSpPr/>
          <p:nvPr/>
        </p:nvSpPr>
        <p:spPr>
          <a:xfrm>
            <a:off x="507987" y="1986855"/>
            <a:ext cx="1307374" cy="38002"/>
          </a:xfrm>
          <a:prstGeom prst="roundRect">
            <a:avLst>
              <a:gd name="adj" fmla="val 49998"/>
            </a:avLst>
          </a:prstGeom>
          <a:solidFill>
            <a:srgbClr val="B6FCB8"/>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227" name="Image 0" descr="Image 0"/>
          <p:cNvPicPr>
            <a:picLocks noChangeAspect="1"/>
          </p:cNvPicPr>
          <p:nvPr/>
        </p:nvPicPr>
        <p:blipFill>
          <a:blip r:embed="rId3">
            <a:extLst/>
          </a:blip>
          <a:stretch>
            <a:fillRect/>
          </a:stretch>
        </p:blipFill>
        <p:spPr>
          <a:xfrm>
            <a:off x="507987" y="2069405"/>
            <a:ext cx="3962202" cy="4331296"/>
          </a:xfrm>
          <a:prstGeom prst="rect">
            <a:avLst/>
          </a:prstGeom>
          <a:ln w="12700">
            <a:miter lim="400000"/>
          </a:ln>
        </p:spPr>
      </p:pic>
      <p:pic>
        <p:nvPicPr>
          <p:cNvPr id="228" name="Image 1" descr="Image 1"/>
          <p:cNvPicPr>
            <a:picLocks noChangeAspect="1"/>
          </p:cNvPicPr>
          <p:nvPr/>
        </p:nvPicPr>
        <p:blipFill>
          <a:blip r:embed="rId4">
            <a:extLst/>
          </a:blip>
          <a:stretch>
            <a:fillRect/>
          </a:stretch>
        </p:blipFill>
        <p:spPr>
          <a:xfrm>
            <a:off x="5282969" y="457200"/>
            <a:ext cx="444390" cy="444402"/>
          </a:xfrm>
          <a:prstGeom prst="rect">
            <a:avLst/>
          </a:prstGeom>
          <a:ln w="12700">
            <a:miter lim="400000"/>
          </a:ln>
        </p:spPr>
      </p:pic>
      <p:pic>
        <p:nvPicPr>
          <p:cNvPr id="229" name="Image 2" descr="Image 2"/>
          <p:cNvPicPr>
            <a:picLocks noChangeAspect="1"/>
          </p:cNvPicPr>
          <p:nvPr/>
        </p:nvPicPr>
        <p:blipFill>
          <a:blip r:embed="rId5">
            <a:extLst/>
          </a:blip>
          <a:stretch>
            <a:fillRect/>
          </a:stretch>
        </p:blipFill>
        <p:spPr>
          <a:xfrm>
            <a:off x="5282969" y="2923480"/>
            <a:ext cx="444390" cy="444402"/>
          </a:xfrm>
          <a:prstGeom prst="rect">
            <a:avLst/>
          </a:prstGeom>
          <a:ln w="12700">
            <a:miter lim="400000"/>
          </a:ln>
        </p:spPr>
      </p:pic>
      <p:sp>
        <p:nvSpPr>
          <p:cNvPr id="230" name="Text 5"/>
          <p:cNvSpPr txBox="1"/>
          <p:nvPr/>
        </p:nvSpPr>
        <p:spPr>
          <a:xfrm>
            <a:off x="5283067" y="1042054"/>
            <a:ext cx="2435375"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MOCK INTERVIEWS</a:t>
            </a:r>
          </a:p>
        </p:txBody>
      </p:sp>
      <p:sp>
        <p:nvSpPr>
          <p:cNvPr id="231" name="Text 6"/>
          <p:cNvSpPr txBox="1"/>
          <p:nvPr/>
        </p:nvSpPr>
        <p:spPr>
          <a:xfrm>
            <a:off x="5283067" y="1378941"/>
            <a:ext cx="2914479" cy="51554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Technical, behavioural, and project questions.</a:t>
            </a:r>
          </a:p>
        </p:txBody>
      </p:sp>
      <p:sp>
        <p:nvSpPr>
          <p:cNvPr id="232" name="Shape 7"/>
          <p:cNvSpPr/>
          <p:nvPr/>
        </p:nvSpPr>
        <p:spPr>
          <a:xfrm>
            <a:off x="8476689" y="457200"/>
            <a:ext cx="12701" cy="2238077"/>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233" name="Shape 8"/>
          <p:cNvSpPr/>
          <p:nvPr/>
        </p:nvSpPr>
        <p:spPr>
          <a:xfrm>
            <a:off x="5283067" y="2688877"/>
            <a:ext cx="3200123" cy="12701"/>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sp>
        <p:nvSpPr>
          <p:cNvPr id="234" name="Text 9"/>
          <p:cNvSpPr txBox="1"/>
          <p:nvPr/>
        </p:nvSpPr>
        <p:spPr>
          <a:xfrm>
            <a:off x="5283067" y="3478569"/>
            <a:ext cx="2914479" cy="5484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59536">
              <a:lnSpc>
                <a:spcPct val="90000"/>
              </a:lnSpc>
              <a:defRPr b="1" sz="1879">
                <a:solidFill>
                  <a:srgbClr val="2743D8"/>
                </a:solidFill>
                <a:latin typeface="Inter Tight Bold"/>
                <a:ea typeface="Inter Tight Bold"/>
                <a:cs typeface="Inter Tight Bold"/>
                <a:sym typeface="Inter Tight Bold"/>
              </a:defRPr>
            </a:lvl1pPr>
          </a:lstStyle>
          <a:p>
            <a:pPr/>
            <a:r>
              <a:t>RESUME AND PROJECT REVIEW</a:t>
            </a:r>
          </a:p>
        </p:txBody>
      </p:sp>
      <p:sp>
        <p:nvSpPr>
          <p:cNvPr id="235" name="Text 10"/>
          <p:cNvSpPr txBox="1"/>
          <p:nvPr/>
        </p:nvSpPr>
        <p:spPr>
          <a:xfrm>
            <a:off x="5283067" y="4119860"/>
            <a:ext cx="2914479"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Improve how experience is presented.</a:t>
            </a:r>
          </a:p>
        </p:txBody>
      </p:sp>
      <p:sp>
        <p:nvSpPr>
          <p:cNvPr id="236" name="Shape 11"/>
          <p:cNvSpPr/>
          <p:nvPr/>
        </p:nvSpPr>
        <p:spPr>
          <a:xfrm>
            <a:off x="8476689" y="2695276"/>
            <a:ext cx="12701" cy="2238078"/>
          </a:xfrm>
          <a:prstGeom prst="rect">
            <a:avLst/>
          </a:prstGeom>
          <a:solidFill>
            <a:srgbClr val="000000">
              <a:alpha val="8000"/>
            </a:srgbClr>
          </a:solidFill>
          <a:ln w="12700">
            <a:miter lim="400000"/>
          </a:ln>
        </p:spPr>
        <p:txBody>
          <a:bodyPr lIns="45719" rIns="45719"/>
          <a:lstStyle/>
          <a:p>
            <a:pPr>
              <a:lnSpc>
                <a:spcPct val="100000"/>
              </a:lnSpc>
              <a:defRPr sz="1800">
                <a:solidFill>
                  <a:srgbClr val="000000"/>
                </a:solidFill>
                <a:latin typeface="+mj-lt"/>
                <a:ea typeface="+mj-ea"/>
                <a:cs typeface="+mj-cs"/>
                <a:sym typeface="Calibri"/>
              </a:defRPr>
            </a:pPr>
          </a:p>
        </p:txBody>
      </p:sp>
      <p:pic>
        <p:nvPicPr>
          <p:cNvPr id="237" name="Image 3" descr="Image 3"/>
          <p:cNvPicPr>
            <a:picLocks noChangeAspect="1"/>
          </p:cNvPicPr>
          <p:nvPr/>
        </p:nvPicPr>
        <p:blipFill>
          <a:blip r:embed="rId6">
            <a:extLst/>
          </a:blip>
          <a:stretch>
            <a:fillRect/>
          </a:stretch>
        </p:blipFill>
        <p:spPr>
          <a:xfrm>
            <a:off x="8711683" y="457200"/>
            <a:ext cx="444490" cy="444500"/>
          </a:xfrm>
          <a:prstGeom prst="rect">
            <a:avLst/>
          </a:prstGeom>
          <a:ln w="12700">
            <a:miter lim="400000"/>
          </a:ln>
        </p:spPr>
      </p:pic>
      <p:sp>
        <p:nvSpPr>
          <p:cNvPr id="238" name="Text 12"/>
          <p:cNvSpPr txBox="1"/>
          <p:nvPr/>
        </p:nvSpPr>
        <p:spPr>
          <a:xfrm>
            <a:off x="8711683" y="1042154"/>
            <a:ext cx="2867597"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FOLLOW-UP PROMPTS</a:t>
            </a:r>
          </a:p>
        </p:txBody>
      </p:sp>
      <p:sp>
        <p:nvSpPr>
          <p:cNvPr id="239" name="Text 13"/>
          <p:cNvSpPr txBox="1"/>
          <p:nvPr/>
        </p:nvSpPr>
        <p:spPr>
          <a:xfrm>
            <a:off x="8711683" y="1378941"/>
            <a:ext cx="2914578" cy="51554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Explain choices and think through details.</a:t>
            </a:r>
          </a:p>
        </p:txBody>
      </p:sp>
      <p:pic>
        <p:nvPicPr>
          <p:cNvPr id="240" name="Image 4" descr="Image 4"/>
          <p:cNvPicPr>
            <a:picLocks noChangeAspect="1"/>
          </p:cNvPicPr>
          <p:nvPr/>
        </p:nvPicPr>
        <p:blipFill>
          <a:blip r:embed="rId7">
            <a:extLst/>
          </a:blip>
          <a:stretch>
            <a:fillRect/>
          </a:stretch>
        </p:blipFill>
        <p:spPr>
          <a:xfrm>
            <a:off x="8711683" y="2923777"/>
            <a:ext cx="444490" cy="444501"/>
          </a:xfrm>
          <a:prstGeom prst="rect">
            <a:avLst/>
          </a:prstGeom>
          <a:ln w="12700">
            <a:miter lim="400000"/>
          </a:ln>
        </p:spPr>
      </p:pic>
      <p:sp>
        <p:nvSpPr>
          <p:cNvPr id="241" name="Text 14"/>
          <p:cNvSpPr txBox="1"/>
          <p:nvPr/>
        </p:nvSpPr>
        <p:spPr>
          <a:xfrm>
            <a:off x="8711683" y="3508731"/>
            <a:ext cx="2280098" cy="304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90000"/>
              </a:lnSpc>
              <a:defRPr b="1" sz="2000">
                <a:solidFill>
                  <a:srgbClr val="2743D8"/>
                </a:solidFill>
                <a:latin typeface="Inter Tight Bold"/>
                <a:ea typeface="Inter Tight Bold"/>
                <a:cs typeface="Inter Tight Bold"/>
                <a:sym typeface="Inter Tight Bold"/>
              </a:defRPr>
            </a:lvl1pPr>
          </a:lstStyle>
          <a:p>
            <a:pPr/>
            <a:r>
              <a:t>LEARNING TOOLS</a:t>
            </a:r>
          </a:p>
        </p:txBody>
      </p:sp>
      <p:sp>
        <p:nvSpPr>
          <p:cNvPr id="242" name="Text 15"/>
          <p:cNvSpPr txBox="1"/>
          <p:nvPr/>
        </p:nvSpPr>
        <p:spPr>
          <a:xfrm>
            <a:off x="8711683" y="3845519"/>
            <a:ext cx="2914578"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lvl1pPr>
          </a:lstStyle>
          <a:p>
            <a:pPr/>
            <a:r>
              <a:t>Question bank, system-design guidance, and STAR builder.</a:t>
            </a:r>
          </a:p>
        </p:txBody>
      </p:sp>
      <p:pic>
        <p:nvPicPr>
          <p:cNvPr id="243" name="Image 5" descr="Image 5"/>
          <p:cNvPicPr>
            <a:picLocks noChangeAspect="1"/>
          </p:cNvPicPr>
          <p:nvPr/>
        </p:nvPicPr>
        <p:blipFill>
          <a:blip r:embed="rId8">
            <a:extLst/>
          </a:blip>
          <a:stretch>
            <a:fillRect/>
          </a:stretch>
        </p:blipFill>
        <p:spPr>
          <a:xfrm>
            <a:off x="5562362" y="5314355"/>
            <a:ext cx="355493" cy="355502"/>
          </a:xfrm>
          <a:prstGeom prst="rect">
            <a:avLst/>
          </a:prstGeom>
          <a:ln w="12700">
            <a:miter lim="400000"/>
          </a:ln>
        </p:spPr>
      </p:pic>
      <p:sp>
        <p:nvSpPr>
          <p:cNvPr id="244" name="Text 16"/>
          <p:cNvSpPr txBox="1"/>
          <p:nvPr/>
        </p:nvSpPr>
        <p:spPr>
          <a:xfrm>
            <a:off x="6095748" y="5314355"/>
            <a:ext cx="1815645"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pc="84" sz="1400">
                <a:solidFill>
                  <a:srgbClr val="FFFFFF"/>
                </a:solidFill>
                <a:latin typeface="JetBrains Mono"/>
                <a:ea typeface="JetBrains Mono"/>
                <a:cs typeface="JetBrains Mono"/>
                <a:sym typeface="JetBrains Mono"/>
              </a:defRPr>
            </a:lvl1pPr>
          </a:lstStyle>
          <a:p>
            <a:pPr/>
            <a:r>
              <a:t>PROGRESS TOOLS</a:t>
            </a:r>
          </a:p>
        </p:txBody>
      </p:sp>
      <p:sp>
        <p:nvSpPr>
          <p:cNvPr id="245" name="Text 17"/>
          <p:cNvSpPr txBox="1"/>
          <p:nvPr/>
        </p:nvSpPr>
        <p:spPr>
          <a:xfrm>
            <a:off x="6095748" y="5665192"/>
            <a:ext cx="5251320" cy="515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400">
                <a:solidFill>
                  <a:srgbClr val="FFFFFF"/>
                </a:solidFill>
              </a:defRPr>
            </a:lvl1pPr>
          </a:lstStyle>
          <a:p>
            <a:pPr/>
            <a:r>
              <a:t>Performance analytics with Pandas and report export where supported.</a:t>
            </a:r>
          </a:p>
        </p:txBody>
      </p:sp>
      <p:pic>
        <p:nvPicPr>
          <p:cNvPr id="246" name="Image 6" descr="Image 6"/>
          <p:cNvPicPr>
            <a:picLocks noChangeAspect="1"/>
          </p:cNvPicPr>
          <p:nvPr/>
        </p:nvPicPr>
        <p:blipFill>
          <a:blip r:embed="rId9">
            <a:extLst/>
          </a:blip>
          <a:stretch>
            <a:fillRect/>
          </a:stretch>
        </p:blipFill>
        <p:spPr>
          <a:xfrm>
            <a:off x="11077099" y="6559550"/>
            <a:ext cx="1071834" cy="255985"/>
          </a:xfrm>
          <a:prstGeom prst="rect">
            <a:avLst/>
          </a:prstGeom>
          <a:ln w="12700">
            <a:miter lim="400000"/>
          </a:ln>
        </p:spPr>
      </p:pic>
      <p:sp>
        <p:nvSpPr>
          <p:cNvPr id="247" name="Rounded Rectangle"/>
          <p:cNvSpPr/>
          <p:nvPr/>
        </p:nvSpPr>
        <p:spPr>
          <a:xfrm>
            <a:off x="4824407" y="6514240"/>
            <a:ext cx="7317962" cy="345534"/>
          </a:xfrm>
          <a:prstGeom prst="roundRect">
            <a:avLst>
              <a:gd name="adj" fmla="val 45979"/>
            </a:avLst>
          </a:prstGeom>
          <a:solidFill>
            <a:srgbClr val="FFFFFF"/>
          </a:solidFill>
          <a:ln w="12700">
            <a:solidFill>
              <a:schemeClr val="accent1"/>
            </a:solidFill>
            <a:miter/>
          </a:ln>
        </p:spPr>
        <p:txBody>
          <a:bodyPr lIns="45719" rIns="45719" anchor="ctr"/>
          <a:lstStyle/>
          <a:p>
            <a:pPr>
              <a:lnSpc>
                <a:spcPct val="100000"/>
              </a:lnSpc>
              <a:defRPr sz="18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1C1E26"/>
      </a:dk1>
      <a:lt1>
        <a:srgbClr val="F6F5F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21000"/>
          </a:lnSpc>
          <a:spcBef>
            <a:spcPts val="0"/>
          </a:spcBef>
          <a:spcAft>
            <a:spcPts val="0"/>
          </a:spcAft>
          <a:buClrTx/>
          <a:buSzTx/>
          <a:buFontTx/>
          <a:buNone/>
          <a:tabLst/>
          <a:defRPr b="0" baseline="0" cap="none" i="0" spc="0" strike="noStrike" sz="1600" u="none" kumimoji="0" normalizeH="0">
            <a:ln>
              <a:noFill/>
            </a:ln>
            <a:solidFill>
              <a:srgbClr val="1C1E26"/>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21000"/>
          </a:lnSpc>
          <a:spcBef>
            <a:spcPts val="0"/>
          </a:spcBef>
          <a:spcAft>
            <a:spcPts val="0"/>
          </a:spcAft>
          <a:buClrTx/>
          <a:buSzTx/>
          <a:buFontTx/>
          <a:buNone/>
          <a:tabLst/>
          <a:defRPr b="0" baseline="0" cap="none" i="0" spc="0" strike="noStrike" sz="1600" u="none" kumimoji="0" normalizeH="0">
            <a:ln>
              <a:noFill/>
            </a:ln>
            <a:solidFill>
              <a:srgbClr val="1C1E26"/>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